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5143500" cy="9144000"/>
  <p:embeddedFontLst>
    <p:embeddedFont>
      <p:font typeface="Int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Inter-italic.fntdata"/><Relationship Id="rId10" Type="http://schemas.openxmlformats.org/officeDocument/2006/relationships/slide" Target="slides/slide6.xml"/><Relationship Id="rId32" Type="http://schemas.openxmlformats.org/officeDocument/2006/relationships/font" Target="fonts/Inter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9e3509cef_1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6" name="Google Shape;726;g3f9e3509cef_1_0:notes"/>
          <p:cNvSpPr txBox="1"/>
          <p:nvPr>
            <p:ph idx="1" type="body"/>
          </p:nvPr>
        </p:nvSpPr>
        <p:spPr>
          <a:xfrm>
            <a:off x="0" y="0"/>
            <a:ext cx="225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f9e3509cef_1_0:notes"/>
          <p:cNvSpPr txBox="1"/>
          <p:nvPr>
            <p:ph idx="12" type="sldNum"/>
          </p:nvPr>
        </p:nvSpPr>
        <p:spPr>
          <a:xfrm>
            <a:off x="0" y="0"/>
            <a:ext cx="225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3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365760"/>
            <a:ext cx="1371600" cy="37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47472"/>
            <a:ext cx="374904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/>
        </p:nvSpPr>
        <p:spPr>
          <a:xfrm>
            <a:off x="365760" y="123444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Inter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AI Product Hack 2026: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365760" y="201168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Inter"/>
              <a:buNone/>
            </a:pPr>
            <a:r>
              <a:rPr lang="en-US" sz="3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</a:t>
            </a:r>
            <a:r>
              <a:rPr b="0" i="0" lang="en-US" sz="3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чего начинается продукт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365760" y="3200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Установка на день 2 · 2 сентября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" y="4434840"/>
            <a:ext cx="868680" cy="2377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" name="Google Shape;32;p5"/>
          <p:cNvCxnSpPr/>
          <p:nvPr/>
        </p:nvCxnSpPr>
        <p:spPr>
          <a:xfrm>
            <a:off x="1417320" y="4370832"/>
            <a:ext cx="0" cy="365760"/>
          </a:xfrm>
          <a:prstGeom prst="straightConnector1">
            <a:avLst/>
          </a:prstGeom>
          <a:noFill/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" name="Google Shape;3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0200" y="4462272"/>
            <a:ext cx="2194560" cy="18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Цель недели — сдвиг мышления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Проект — не учебное задание, а реальная продуктовая работа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36576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Что вы унесёте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 txBox="1"/>
          <p:nvPr/>
        </p:nvSpPr>
        <p:spPr>
          <a:xfrm>
            <a:off x="365760" y="169164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Флоу разработки продукта от кейса до демо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Умение превратить наблюдение в проверяемую гипотезу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Быстро собрать прототип / PoC с ИИ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Доказать ценность на данных, сценариях и обратной связи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448056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Как мы работаем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4480560" y="169164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Каждый день — фокус, задача, поддержка, артефакт в TT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Ментор не даёт решение — помогает увидеть непроверенные предположения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Кейсодатель возвращает проект к реальности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Обратная связь — часть разработки, а не только финальная оценка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6"/>
          <p:cNvCxnSpPr/>
          <p:nvPr/>
        </p:nvCxnSpPr>
        <p:spPr>
          <a:xfrm>
            <a:off x="365760" y="329184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6"/>
          <p:cNvSpPr txBox="1"/>
          <p:nvPr/>
        </p:nvSpPr>
        <p:spPr>
          <a:xfrm>
            <a:off x="365760" y="3383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Что оценивают на Demo Day — не количество фич, а связь: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365760" y="3749040"/>
            <a:ext cx="2377440" cy="685800"/>
          </a:xfrm>
          <a:prstGeom prst="roundRect">
            <a:avLst>
              <a:gd fmla="val 46667" name="adj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 txBox="1"/>
          <p:nvPr/>
        </p:nvSpPr>
        <p:spPr>
          <a:xfrm>
            <a:off x="365760" y="374904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проблема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2743200" y="374904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A9B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9FA9B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291840" y="3749040"/>
            <a:ext cx="2377440" cy="685800"/>
          </a:xfrm>
          <a:prstGeom prst="roundRect">
            <a:avLst>
              <a:gd fmla="val 46667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 txBox="1"/>
          <p:nvPr/>
        </p:nvSpPr>
        <p:spPr>
          <a:xfrm>
            <a:off x="3291840" y="374904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решения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5669280" y="374904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A9B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9FA9B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217920" y="3749040"/>
            <a:ext cx="2377440" cy="685800"/>
          </a:xfrm>
          <a:prstGeom prst="roundRect">
            <a:avLst>
              <a:gd fmla="val 46667" name="adj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6217920" y="374904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доказательства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Откуда это: AI Talent Camp → AI Product Hack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Февраль 2026: полный AI-first цикл за 6 дней — Discovery → Research → Development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365760" y="1325880"/>
            <a:ext cx="3749040" cy="3108960"/>
          </a:xfrm>
          <a:prstGeom prst="roundRect">
            <a:avLst>
              <a:gd fmla="val 3529" name="adj"/>
            </a:avLst>
          </a:prstGeom>
          <a:solidFill>
            <a:srgbClr val="E7E7ED"/>
          </a:solidFill>
          <a:ln cap="flat" cmpd="sng" w="12700">
            <a:solidFill>
              <a:srgbClr val="E7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 txBox="1"/>
          <p:nvPr/>
        </p:nvSpPr>
        <p:spPr>
          <a:xfrm>
            <a:off x="502920" y="14630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Что переносим из Camp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502920" y="1874520"/>
            <a:ext cx="34747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Тот же цикл: гипотеза → прототип → проверка → итерация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Роль AI Product Engineer: продакт + разработчик + AI-инженер в одном лице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Ежедневные артефакты, P2P-ревью, честный список «убитых» гипотез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Критерии: сила проблемы, стыковка с реальностью, команда «люди + ИИ»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4206240" y="2560320"/>
            <a:ext cx="731520" cy="6400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5029200" y="1325880"/>
            <a:ext cx="3749040" cy="3108960"/>
          </a:xfrm>
          <a:prstGeom prst="roundRect">
            <a:avLst>
              <a:gd fmla="val 3529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 txBox="1"/>
          <p:nvPr/>
        </p:nvSpPr>
        <p:spPr>
          <a:xfrm>
            <a:off x="5166360" y="14630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Что меняется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5166360" y="1874520"/>
            <a:ext cx="34747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Кейсы индустриальные: проблема уже есть — и есть человек, у которого она болит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Меньше исследовательского контура, больше погружения в среду заказчика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Это не проще, а сложнее: у вас есть заказчик, которому легко «просто угодить»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Роль недели: AI Product Engineer как FDE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FDE: из Palantir — в OpenAI, Anthropic, Ramp, Salesforce. a16z: «самая горячая работа в tech» (2025)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8"/>
          <p:cNvCxnSpPr/>
          <p:nvPr/>
        </p:nvCxnSpPr>
        <p:spPr>
          <a:xfrm>
            <a:off x="822960" y="1920240"/>
            <a:ext cx="7498080" cy="0"/>
          </a:xfrm>
          <a:prstGeom prst="straightConnector1">
            <a:avLst/>
          </a:prstGeom>
          <a:noFill/>
          <a:ln cap="flat" cmpd="sng" w="254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8"/>
          <p:cNvSpPr/>
          <p:nvPr/>
        </p:nvSpPr>
        <p:spPr>
          <a:xfrm>
            <a:off x="530352" y="1627632"/>
            <a:ext cx="585216" cy="58521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 txBox="1"/>
          <p:nvPr/>
        </p:nvSpPr>
        <p:spPr>
          <a:xfrm>
            <a:off x="530352" y="162763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0" y="2331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Погружение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В среду клиента: команда OpenAI ездила на фермы в Айове, прежде чем строить систему для John Deere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2404872" y="1627632"/>
            <a:ext cx="585216" cy="58521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2404872" y="162763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 txBox="1"/>
          <p:nvPr/>
        </p:nvSpPr>
        <p:spPr>
          <a:xfrm>
            <a:off x="1874520" y="2331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Scoping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187452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Границы задачи, носитель проблемы, данные, критерий успеха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279392" y="1627632"/>
            <a:ext cx="585216" cy="58521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 txBox="1"/>
          <p:nvPr/>
        </p:nvSpPr>
        <p:spPr>
          <a:xfrm>
            <a:off x="4279392" y="162763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 txBox="1"/>
          <p:nvPr/>
        </p:nvSpPr>
        <p:spPr>
          <a:xfrm>
            <a:off x="3749040" y="2331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374904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Строим evals и проверяем самое рискованное на реальных данных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153912" y="1627632"/>
            <a:ext cx="585216" cy="58521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 txBox="1"/>
          <p:nvPr/>
        </p:nvSpPr>
        <p:spPr>
          <a:xfrm>
            <a:off x="6153912" y="162763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5623560" y="2331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Delivery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562356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Работающее решение в контуре клиента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8028432" y="1627632"/>
            <a:ext cx="585216" cy="585216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 txBox="1"/>
          <p:nvPr/>
        </p:nvSpPr>
        <p:spPr>
          <a:xfrm>
            <a:off x="8028432" y="162763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 txBox="1"/>
          <p:nvPr/>
        </p:nvSpPr>
        <p:spPr>
          <a:xfrm>
            <a:off x="7498080" y="2331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Обобщение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749808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Кастомная работа у одного клиента становится фичей продукта для всех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 txBox="1"/>
          <p:nvPr/>
        </p:nvSpPr>
        <p:spPr>
          <a:xfrm>
            <a:off x="365760" y="3840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Это ровно наша траектория на неделе: погрузиться в контекст кейсодателя → проверить самое рискованное → показать работающее → обобщить до продукта.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82880"/>
            <a:ext cx="8778240" cy="476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 txBox="1"/>
          <p:nvPr/>
        </p:nvSpPr>
        <p:spPr>
          <a:xfrm>
            <a:off x="548640" y="457200"/>
            <a:ext cx="7315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Inter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Ловушка кейса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5943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5943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10515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 txBox="1"/>
          <p:nvPr/>
        </p:nvSpPr>
        <p:spPr>
          <a:xfrm>
            <a:off x="10515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15087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 txBox="1"/>
          <p:nvPr/>
        </p:nvSpPr>
        <p:spPr>
          <a:xfrm>
            <a:off x="15087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763524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 txBox="1"/>
          <p:nvPr/>
        </p:nvSpPr>
        <p:spPr>
          <a:xfrm>
            <a:off x="763524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809244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 txBox="1"/>
          <p:nvPr/>
        </p:nvSpPr>
        <p:spPr>
          <a:xfrm>
            <a:off x="809244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854964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 txBox="1"/>
          <p:nvPr/>
        </p:nvSpPr>
        <p:spPr>
          <a:xfrm>
            <a:off x="854964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594360" y="3566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Ловушка кейса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Кейс — это не ТЗ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За формулировкой кейса — слои, и продукт живёт на нижних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411480" y="1280160"/>
            <a:ext cx="4206240" cy="429768"/>
          </a:xfrm>
          <a:prstGeom prst="roundRect">
            <a:avLst>
              <a:gd fmla="val 21277" name="adj"/>
            </a:avLst>
          </a:prstGeom>
          <a:solidFill>
            <a:srgbClr val="E7E7ED"/>
          </a:solidFill>
          <a:ln cap="flat" cmpd="sng" w="12700">
            <a:solidFill>
              <a:srgbClr val="E7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 txBox="1"/>
          <p:nvPr/>
        </p:nvSpPr>
        <p:spPr>
          <a:xfrm>
            <a:off x="411480" y="1280160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Формулировка кейса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617220" y="1783080"/>
            <a:ext cx="3794760" cy="429768"/>
          </a:xfrm>
          <a:prstGeom prst="roundRect">
            <a:avLst>
              <a:gd fmla="val 21277" name="adj"/>
            </a:avLst>
          </a:prstGeom>
          <a:solidFill>
            <a:srgbClr val="E7E7ED"/>
          </a:solidFill>
          <a:ln cap="flat" cmpd="sng" w="12700">
            <a:solidFill>
              <a:srgbClr val="E7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617220" y="1783080"/>
            <a:ext cx="3794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Бизнес-задача компании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822960" y="2286000"/>
            <a:ext cx="3383280" cy="429768"/>
          </a:xfrm>
          <a:prstGeom prst="roundRect">
            <a:avLst>
              <a:gd fmla="val 21277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 txBox="1"/>
          <p:nvPr/>
        </p:nvSpPr>
        <p:spPr>
          <a:xfrm>
            <a:off x="822960" y="2286000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Процесс и его владелец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1028700" y="2788920"/>
            <a:ext cx="2971800" cy="429768"/>
          </a:xfrm>
          <a:prstGeom prst="roundRect">
            <a:avLst>
              <a:gd fmla="val 21277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1028700" y="2788920"/>
            <a:ext cx="29718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Человек, который делает работу руками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1234440" y="3291840"/>
            <a:ext cx="2560320" cy="429768"/>
          </a:xfrm>
          <a:prstGeom prst="roundRect">
            <a:avLst>
              <a:gd fmla="val 21277" name="adj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 txBox="1"/>
          <p:nvPr/>
        </p:nvSpPr>
        <p:spPr>
          <a:xfrm>
            <a:off x="1234440" y="3291840"/>
            <a:ext cx="25603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Его job: что он хочет получить в этой ситуации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1440180" y="3794760"/>
            <a:ext cx="2148840" cy="429768"/>
          </a:xfrm>
          <a:prstGeom prst="roundRect">
            <a:avLst>
              <a:gd fmla="val 21277" name="adj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1440180" y="3794760"/>
            <a:ext cx="2148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Рынок таких же людей в других компаниях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365760" y="43434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▼ продукт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4937760" y="1325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9B1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FA9B1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5349240" y="1325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Крайность 1 · «Сделать ровно как написано»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5349240" y="178308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Узкий инструмент под одного заказчика: не переживёт Demo Day и не станет продуктом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4937760" y="2514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9B1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FA9B1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5349240" y="25146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Крайность 2 · «Мы придумали стартап»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5349240" y="27889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Ушли от кейса: кейсодатель не узнаёт свою проблему, чекпоинт провален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937760" y="3383280"/>
            <a:ext cx="3840480" cy="1051560"/>
          </a:xfrm>
          <a:prstGeom prst="roundRect">
            <a:avLst>
              <a:gd fmla="val 10435" name="adj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5074920" y="3520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Целевая позиция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5074920" y="388620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Решить проблему кейсодателя так, чтобы он стал первым сегментом масштабируемого продукта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Три вопроса: продукт или «решение под заказчика»?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365760" y="13716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365760" y="23774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Кто ещё делает эту же работу?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365760" y="315468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В других отделах, компаниях, отраслях. Если никто — это не продукт, а автоматизация одного процесса.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11"/>
          <p:cNvCxnSpPr/>
          <p:nvPr/>
        </p:nvCxnSpPr>
        <p:spPr>
          <a:xfrm>
            <a:off x="3063240" y="1463040"/>
            <a:ext cx="914" cy="292608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1"/>
          <p:cNvSpPr txBox="1"/>
          <p:nvPr/>
        </p:nvSpPr>
        <p:spPr>
          <a:xfrm>
            <a:off x="3218688" y="13716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3218688" y="23774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Что общего и что специфично?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3218688" y="315468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Что в контексте кейсодателя — обязательное требование, а что — предположение, которое можно проверить?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11"/>
          <p:cNvCxnSpPr/>
          <p:nvPr/>
        </p:nvCxnSpPr>
        <p:spPr>
          <a:xfrm>
            <a:off x="5916168" y="1463040"/>
            <a:ext cx="914" cy="292608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1"/>
          <p:cNvSpPr txBox="1"/>
          <p:nvPr/>
        </p:nvSpPr>
        <p:spPr>
          <a:xfrm>
            <a:off x="6071616" y="13716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6071616" y="23774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Кто платит и за что?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6071616" y="315468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Кейсодатель как первый клиент: какой результат он бы купил? В каких единицах — время, деньги, риски, ошибки?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2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Та же логика на ваших кейсах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Кейс как сформулирован → чью работу он на самом деле делает → где может быть продукт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365760" y="13258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Кейс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2743200" y="1325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Чья работа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5943600" y="132588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Где продукт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12"/>
          <p:cNvCxnSpPr/>
          <p:nvPr/>
        </p:nvCxnSpPr>
        <p:spPr>
          <a:xfrm>
            <a:off x="365760" y="16276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2"/>
          <p:cNvSpPr txBox="1"/>
          <p:nvPr/>
        </p:nvSpPr>
        <p:spPr>
          <a:xfrm>
            <a:off x="365760" y="1691640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Avito AI Reviewer · Авито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2852928" y="169164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Тимлид / разработчик: «принять PR, не пропустив риск и не потратив полдня»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6053328" y="169164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Любая инженерная команда со своим стеком и стандартами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2"/>
          <p:cNvCxnSpPr/>
          <p:nvPr/>
        </p:nvCxnSpPr>
        <p:spPr>
          <a:xfrm>
            <a:off x="365760" y="2295144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2"/>
          <p:cNvSpPr txBox="1"/>
          <p:nvPr/>
        </p:nvSpPr>
        <p:spPr>
          <a:xfrm>
            <a:off x="365760" y="2331720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ИИ-интервьюер · Napoleon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2852928" y="233172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Рекрутер, исследователь: «получить сравнимые ответы от N людей быстро»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6053328" y="233172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HR-скрининг, продуктовые исследования, опросы клиентов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2"/>
          <p:cNvCxnSpPr/>
          <p:nvPr/>
        </p:nvCxnSpPr>
        <p:spPr>
          <a:xfrm>
            <a:off x="365760" y="2935224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2"/>
          <p:cNvSpPr txBox="1"/>
          <p:nvPr/>
        </p:nvSpPr>
        <p:spPr>
          <a:xfrm>
            <a:off x="365760" y="2971800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Анализ документации · МТС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2852928" y="297180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Инженер / аналитик: «найти ответ в корпусе документов и не ошибиться»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6053328" y="297180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Любая компания с большим корпусом документации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2"/>
          <p:cNvCxnSpPr/>
          <p:nvPr/>
        </p:nvCxnSpPr>
        <p:spPr>
          <a:xfrm>
            <a:off x="365760" y="3575304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12"/>
          <p:cNvSpPr txBox="1"/>
          <p:nvPr/>
        </p:nvSpPr>
        <p:spPr>
          <a:xfrm>
            <a:off x="365760" y="3611880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Проверка контрагента · Альфа-Банк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2852928" y="36118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Предприниматель / бухгалтер: «не попасть на риск при сделке»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6053328" y="361188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Любой B2B-сервис, где заключают сделки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2"/>
          <p:cNvCxnSpPr/>
          <p:nvPr/>
        </p:nvCxnSpPr>
        <p:spPr>
          <a:xfrm>
            <a:off x="365760" y="4215384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2"/>
          <p:cNvSpPr txBox="1"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14 кейсов недели: Альфа-Банк ×4 · МТС ×3 · Авито · Brand Analytics · IT Imperial · Napoleon IT · Цифра · X5 Tech · «Говорящий персонаж»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82880"/>
            <a:ext cx="8778240" cy="4764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 txBox="1"/>
          <p:nvPr/>
        </p:nvSpPr>
        <p:spPr>
          <a:xfrm>
            <a:off x="548640" y="457200"/>
            <a:ext cx="7315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Inter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Контекст — главный актив первого дня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5943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5943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10515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10515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15087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15087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19659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"/>
          <p:cNvSpPr txBox="1"/>
          <p:nvPr/>
        </p:nvSpPr>
        <p:spPr>
          <a:xfrm>
            <a:off x="19659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809244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 txBox="1"/>
          <p:nvPr/>
        </p:nvSpPr>
        <p:spPr>
          <a:xfrm>
            <a:off x="809244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854964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 txBox="1"/>
          <p:nvPr/>
        </p:nvSpPr>
        <p:spPr>
          <a:xfrm>
            <a:off x="854964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>
            <a:off x="594360" y="3566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Контекст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4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Пять слоёв контекста продукта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Context engineering: качество ответа — и агента, и команды — определяется тем, что дали на вход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502920" y="1463040"/>
            <a:ext cx="3017520" cy="3017520"/>
          </a:xfrm>
          <a:prstGeom prst="ellipse">
            <a:avLst/>
          </a:prstGeom>
          <a:solidFill>
            <a:srgbClr val="FFD9C7"/>
          </a:solidFill>
          <a:ln cap="flat" cmpd="sng" w="12700">
            <a:solidFill>
              <a:srgbClr val="FFD9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777240" y="1737360"/>
            <a:ext cx="2468880" cy="2468880"/>
          </a:xfrm>
          <a:prstGeom prst="ellipse">
            <a:avLst/>
          </a:prstGeom>
          <a:solidFill>
            <a:srgbClr val="FFB899"/>
          </a:solidFill>
          <a:ln cap="flat" cmpd="sng" w="12700">
            <a:solidFill>
              <a:srgbClr val="FFB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1051560" y="2011680"/>
            <a:ext cx="1920240" cy="1920240"/>
          </a:xfrm>
          <a:prstGeom prst="ellipse">
            <a:avLst/>
          </a:prstGeom>
          <a:solidFill>
            <a:srgbClr val="FF9871"/>
          </a:solidFill>
          <a:ln cap="flat" cmpd="sng" w="12700">
            <a:solidFill>
              <a:srgbClr val="FF98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1325880" y="2286000"/>
            <a:ext cx="1371600" cy="1371600"/>
          </a:xfrm>
          <a:prstGeom prst="ellipse">
            <a:avLst/>
          </a:prstGeom>
          <a:solidFill>
            <a:srgbClr val="FC7440"/>
          </a:solidFill>
          <a:ln cap="flat" cmpd="sng" w="12700">
            <a:solidFill>
              <a:srgbClr val="FC7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1600200" y="2560320"/>
            <a:ext cx="822960" cy="822960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1600200" y="2560320"/>
            <a:ext cx="822960" cy="82296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 txBox="1"/>
          <p:nvPr/>
        </p:nvSpPr>
        <p:spPr>
          <a:xfrm>
            <a:off x="1600200" y="25603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Продукт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1874520" y="23042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1874520" y="20299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1874520" y="17556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1874520" y="14813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1874520" y="1207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123944" y="1280160"/>
            <a:ext cx="256032" cy="256032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4123944" y="12801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4526280" y="128016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Бизнес-контекст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4526280" y="151790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Зачем компании это, как измеряют сейчас, что пробовали, почему не «просто ChatGPT»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4123944" y="1856232"/>
            <a:ext cx="256032" cy="256032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 txBox="1"/>
          <p:nvPr/>
        </p:nvSpPr>
        <p:spPr>
          <a:xfrm>
            <a:off x="4123944" y="18562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4526280" y="185623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Носитель проблемы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4526280" y="209397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Кто делает работу руками, как сейчас (Excel, стажёр, обходные пути), цена боли в часах / деньгах / ошибках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4123944" y="2432304"/>
            <a:ext cx="256032" cy="256032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 txBox="1"/>
          <p:nvPr/>
        </p:nvSpPr>
        <p:spPr>
          <a:xfrm>
            <a:off x="4123944" y="24323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4526280" y="2432304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Данные и ограничения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4526280" y="26700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Что доступно и в каком виде, что нельзя: безопасность, персональные данные, on-prem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4123944" y="3008376"/>
            <a:ext cx="256032" cy="256032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4123944" y="300837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4526280" y="3008376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Рынок и аналоги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4526280" y="32461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Кто и как уже решает, за сколько, почему кейсодатель этим не пользуется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4123944" y="3584448"/>
            <a:ext cx="256032" cy="256032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 txBox="1"/>
          <p:nvPr/>
        </p:nvSpPr>
        <p:spPr>
          <a:xfrm>
            <a:off x="4123944" y="35844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4526280" y="358444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Технологии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4526280" y="382219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Что реально умеют модели на этой задаче, где риски: галлюцинации, latency, стоимость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4526280" y="4224528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Тот же документ ляжет в CLAUDE.md / системный промпт вашего проекта — контекст кормит и людей, и агентов.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5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Артефакт дня: Context Pack на 1 страницу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457200" y="1280160"/>
            <a:ext cx="402336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457200" y="1280160"/>
            <a:ext cx="4023360" cy="36576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594360" y="1280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CONTEXT_PACK.md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621792" y="1810512"/>
            <a:ext cx="146304" cy="14630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868680" y="1755648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Проблема одной фразой + чья это работа: ситуация → хочу → чтобы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621792" y="2148840"/>
            <a:ext cx="146304" cy="14630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868680" y="2093976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Как это делают сейчас и что это стоит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621792" y="2487168"/>
            <a:ext cx="146304" cy="14630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868680" y="2432304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Обязательные требования кейса vs наши предположения — две колонки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621792" y="2825496"/>
            <a:ext cx="146304" cy="14630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868680" y="2770632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Что знаем о данных и доступах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621792" y="3163824"/>
            <a:ext cx="146304" cy="14630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868680" y="3108960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Аналоги: 3–5 + чем будем отличаться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621792" y="3502152"/>
            <a:ext cx="146304" cy="14630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868680" y="3447288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5–7 гипотез (продуктовые + AI), одна помечена как самое рискованное предположение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621792" y="3840480"/>
            <a:ext cx="146304" cy="14630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868680" y="3785616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Открытые вопросы кейсодателю — для Q&amp;A в 16:30 и чекпоинта дня 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621792" y="4178808"/>
            <a:ext cx="146304" cy="14630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 txBox="1"/>
          <p:nvPr/>
        </p:nvSpPr>
        <p:spPr>
          <a:xfrm>
            <a:off x="868680" y="4123944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Кто в команде за что + как используем ИИ в процессе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Зачем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4937760" y="16916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Это общий контекст для людей и агентов. Он же — основа для problem statement завтра и для питча в день 7.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4937760" y="2788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Формат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4937760" y="310896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Markdown в репозитории проекта. Живой документ: обновляется после каждого разговора и каждой проверки.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6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 кем говорить, кроме кейсодателя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Кейсодатель ≠ пользователь ≠ рынок — три источника правды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6"/>
          <p:cNvCxnSpPr/>
          <p:nvPr/>
        </p:nvCxnSpPr>
        <p:spPr>
          <a:xfrm>
            <a:off x="2971800" y="1600200"/>
            <a:ext cx="1600200" cy="137160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16"/>
          <p:cNvCxnSpPr/>
          <p:nvPr/>
        </p:nvCxnSpPr>
        <p:spPr>
          <a:xfrm>
            <a:off x="2971800" y="2788920"/>
            <a:ext cx="1600200" cy="18288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16"/>
          <p:cNvCxnSpPr/>
          <p:nvPr/>
        </p:nvCxnSpPr>
        <p:spPr>
          <a:xfrm flipH="1" rot="10800000">
            <a:off x="2971800" y="2971800"/>
            <a:ext cx="1600200" cy="100584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16"/>
          <p:cNvCxnSpPr/>
          <p:nvPr/>
        </p:nvCxnSpPr>
        <p:spPr>
          <a:xfrm flipH="1" rot="10800000">
            <a:off x="4572000" y="1600200"/>
            <a:ext cx="1600200" cy="137160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16"/>
          <p:cNvCxnSpPr/>
          <p:nvPr/>
        </p:nvCxnSpPr>
        <p:spPr>
          <a:xfrm flipH="1" rot="10800000">
            <a:off x="4572000" y="2788920"/>
            <a:ext cx="1600200" cy="18288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6"/>
          <p:cNvCxnSpPr/>
          <p:nvPr/>
        </p:nvCxnSpPr>
        <p:spPr>
          <a:xfrm>
            <a:off x="4572000" y="2971800"/>
            <a:ext cx="1600200" cy="100584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6"/>
          <p:cNvCxnSpPr/>
          <p:nvPr/>
        </p:nvCxnSpPr>
        <p:spPr>
          <a:xfrm>
            <a:off x="4572000" y="2971800"/>
            <a:ext cx="914" cy="146304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6"/>
          <p:cNvSpPr/>
          <p:nvPr/>
        </p:nvSpPr>
        <p:spPr>
          <a:xfrm>
            <a:off x="4114800" y="2514600"/>
            <a:ext cx="914400" cy="914400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4114800" y="25146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Команда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2880360" y="1508760"/>
            <a:ext cx="182880" cy="182880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6"/>
          <p:cNvSpPr txBox="1"/>
          <p:nvPr/>
        </p:nvSpPr>
        <p:spPr>
          <a:xfrm>
            <a:off x="365760" y="11430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Кейсодатель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365760" y="1399032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Заказчик, часто менеджер. Знает бизнес-задачу и ограничения, но может не знать, как работа делается руками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2880360" y="2697480"/>
            <a:ext cx="182880" cy="18288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 txBox="1"/>
          <p:nvPr/>
        </p:nvSpPr>
        <p:spPr>
          <a:xfrm>
            <a:off x="365760" y="233172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Носитель проблемы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365760" y="2587752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Делает работу каждый день. Спросите: «Кто у вас тратит на это больше всего времени? Можно с ним 20 минут?»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2880360" y="3886200"/>
            <a:ext cx="182880" cy="18288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 txBox="1"/>
          <p:nvPr/>
        </p:nvSpPr>
        <p:spPr>
          <a:xfrm>
            <a:off x="365760" y="35204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Сокурсники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 txBox="1"/>
          <p:nvPr/>
        </p:nvSpPr>
        <p:spPr>
          <a:xfrm>
            <a:off x="365760" y="3776472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На потоке ~345 человек, многие работают в индустрии: самая доступная выборка «таких же пользователей из других компаний»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6080760" y="1508760"/>
            <a:ext cx="182880" cy="182880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 txBox="1"/>
          <p:nvPr/>
        </p:nvSpPr>
        <p:spPr>
          <a:xfrm>
            <a:off x="6355080" y="114300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Бадди, менторы, 2-й курс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6355080" y="1399032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Не за ответами, а чтобы увидеть неподтверждённые предположения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6080760" y="2697480"/>
            <a:ext cx="182880" cy="182880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6355080" y="233172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Эксперты предметной области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6355080" y="2587752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Один разговор с тем, кто 10 лет в теме, экономит день гугления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6080760" y="3886200"/>
            <a:ext cx="182880" cy="182880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6355080" y="352044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Те, кто пробовал и отказался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6355080" y="3776472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Самый честный источник про ограничения аналогов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4480560" y="4343400"/>
            <a:ext cx="182880" cy="182880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3200400" y="45262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Синтетические пользователи — LLM как черновик вопросов и карта возможных болей — не доказательство. Каждый вывод — гипотеза для живого разговора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3246120" y="1234440"/>
            <a:ext cx="2651760" cy="457200"/>
          </a:xfrm>
          <a:prstGeom prst="roundRect">
            <a:avLst>
              <a:gd fmla="val 20000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3246120" y="12344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Правило дня: первое интервью — сегодня, до вечерней рефлексии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7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Как разговаривать с кейсодателем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Готовимся к Q&amp;A в 16:30: не «какие фичи нужны?», а про работу и контекст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365760" y="1325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777240" y="1325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Как это происходит сейчас — шаг за шагом? Кто участвует? Где ломается?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365760" y="17282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777240" y="172821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Что вы уже пробовали, включая ChatGPT, и почему не прижилось?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365760" y="21305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777240" y="21305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Как вы поймёте, что решение сработало — в каких цифрах? Что считаете сейчас?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365760" y="2532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777240" y="25328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Какие данные реально доступны и в каком виде? Что нельзя?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365760" y="29352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777240" y="293522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Что для вас обязательно, а где вы открыты к другой постановке?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365760" y="3337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777240" y="33375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Если бы это работало идеально — что изменилось бы в вашем дне или неделе?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365760" y="37398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777240" y="373989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Кто ещё в компании или отрасли страдает от того же?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7"/>
          <p:cNvCxnSpPr/>
          <p:nvPr/>
        </p:nvCxnSpPr>
        <p:spPr>
          <a:xfrm>
            <a:off x="5806440" y="1371600"/>
            <a:ext cx="914" cy="310896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7"/>
          <p:cNvSpPr txBox="1"/>
          <p:nvPr/>
        </p:nvSpPr>
        <p:spPr>
          <a:xfrm>
            <a:off x="603504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Приём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6035040" y="16459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Проговорите кейсодателю своё понимание проблемы и попросите исправить. Ошибки в пересказе — самый быстрый источник инсайтов.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6035040" y="2880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Не забыть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6035040" y="320040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Char char="•"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Записать разговор и прогнать через ИИ — цитаты в карту болей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Char char="•"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Спросить контакт носителя проблемы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Char char="•"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Договориться о формате чекпоинта в день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82880"/>
            <a:ext cx="8778240" cy="476402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8"/>
          <p:cNvSpPr txBox="1"/>
          <p:nvPr/>
        </p:nvSpPr>
        <p:spPr>
          <a:xfrm>
            <a:off x="548640" y="457200"/>
            <a:ext cx="7315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Inter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Рынок, гипотезы и ИИ в продуктовом цикле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5943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5943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10515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"/>
          <p:cNvSpPr txBox="1"/>
          <p:nvPr/>
        </p:nvSpPr>
        <p:spPr>
          <a:xfrm>
            <a:off x="10515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15087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"/>
          <p:cNvSpPr txBox="1"/>
          <p:nvPr/>
        </p:nvSpPr>
        <p:spPr>
          <a:xfrm>
            <a:off x="15087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19659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"/>
          <p:cNvSpPr txBox="1"/>
          <p:nvPr/>
        </p:nvSpPr>
        <p:spPr>
          <a:xfrm>
            <a:off x="19659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24231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8"/>
          <p:cNvSpPr txBox="1"/>
          <p:nvPr/>
        </p:nvSpPr>
        <p:spPr>
          <a:xfrm>
            <a:off x="24231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854964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8"/>
          <p:cNvSpPr txBox="1"/>
          <p:nvPr/>
        </p:nvSpPr>
        <p:spPr>
          <a:xfrm>
            <a:off x="854964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594360" y="3566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Гипотезы и ИИ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9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Рынок и аналоги без «анализа на 20 слайдов»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Четыре вещи, которые нужны на хакатоне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9"/>
          <p:cNvCxnSpPr/>
          <p:nvPr/>
        </p:nvCxnSpPr>
        <p:spPr>
          <a:xfrm>
            <a:off x="365760" y="260604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19"/>
          <p:cNvCxnSpPr/>
          <p:nvPr/>
        </p:nvCxnSpPr>
        <p:spPr>
          <a:xfrm>
            <a:off x="4572000" y="1280160"/>
            <a:ext cx="914" cy="251460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19"/>
          <p:cNvSpPr txBox="1"/>
          <p:nvPr/>
        </p:nvSpPr>
        <p:spPr>
          <a:xfrm>
            <a:off x="365760" y="12801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 txBox="1"/>
          <p:nvPr/>
        </p:nvSpPr>
        <p:spPr>
          <a:xfrm>
            <a:off x="960120" y="13258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Как работу делают сейчас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 txBox="1"/>
          <p:nvPr/>
        </p:nvSpPr>
        <p:spPr>
          <a:xfrm>
            <a:off x="960120" y="1627632"/>
            <a:ext cx="3429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Ручной процесс, Excel, стажёр, вендорский инструмент, «просто ChatGPT». Это ваш baseline для доказательства ценности в день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 txBox="1"/>
          <p:nvPr/>
        </p:nvSpPr>
        <p:spPr>
          <a:xfrm>
            <a:off x="4754880" y="12801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 txBox="1"/>
          <p:nvPr/>
        </p:nvSpPr>
        <p:spPr>
          <a:xfrm>
            <a:off x="5349240" y="13258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3–5 аналогов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 txBox="1"/>
          <p:nvPr/>
        </p:nvSpPr>
        <p:spPr>
          <a:xfrm>
            <a:off x="5349240" y="1627632"/>
            <a:ext cx="3429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Что взять, чем отличаться, почему кейсодатель ими не пользуется: цена, данные, интеграция, безопасность, качество на русском / узбекском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 txBox="1"/>
          <p:nvPr/>
        </p:nvSpPr>
        <p:spPr>
          <a:xfrm>
            <a:off x="365760" y="26517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 txBox="1"/>
          <p:nvPr/>
        </p:nvSpPr>
        <p:spPr>
          <a:xfrm>
            <a:off x="960120" y="2697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Why 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960120" y="2999232"/>
            <a:ext cx="3429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Что стало возможным за последний год — модели, стоимость, tool calling, MCP — чего не было у аналогов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4754880" y="26517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5349240" y="2697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Порядок величины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5349240" y="2999232"/>
            <a:ext cx="3429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Сколько таких носителей проблемы за пределами кейсодателя — оценка порядка, не точность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С ИИ deep research по аналогам делается за 20–30 минут. Правило RAT-дисциплины: каждое число — сгенерированная оценка с путём верификации. Проверяйте перед тем, как на него опираться.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0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Гипотезы и самое рискованное предположение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365760" y="13258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Продуктовая гипотеза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 txBox="1"/>
          <p:nvPr/>
        </p:nvSpPr>
        <p:spPr>
          <a:xfrm>
            <a:off x="365760" y="162763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«Если мы [сделаем X] для [сегмента], то [достигнем Y], потому что [обоснование из контекста]» + метрика проверки + ожидаемый результат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 txBox="1"/>
          <p:nvPr/>
        </p:nvSpPr>
        <p:spPr>
          <a:xfrm>
            <a:off x="365760" y="26060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AI-гипотеза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365760" y="2907792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«Модель / агент в [этой части процесса] даст [качество / скорость] на [этих данных] при [ограничениях]». Отвечает: где именно ИИ создаёт ценность, а где хватит обычного кода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 txBox="1"/>
          <p:nvPr/>
        </p:nvSpPr>
        <p:spPr>
          <a:xfrm>
            <a:off x="365760" y="397764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Убитая гипотеза — результат, а не провал. На Camp мы давали бонус за число «убитых» гипотез на реальных сигналах.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4937760" y="1325880"/>
            <a:ext cx="3657600" cy="640080"/>
          </a:xfrm>
          <a:prstGeom prst="roundRect">
            <a:avLst>
              <a:gd fmla="val 17143" name="adj"/>
            </a:avLst>
          </a:prstGeom>
          <a:solidFill>
            <a:srgbClr val="E7E7ED"/>
          </a:solidFill>
          <a:ln cap="flat" cmpd="sng" w="12700">
            <a:solidFill>
              <a:srgbClr val="E7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 txBox="1"/>
          <p:nvPr/>
        </p:nvSpPr>
        <p:spPr>
          <a:xfrm>
            <a:off x="4937760" y="13258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Бэклог: 5–7 гипотез — продуктовые +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5440680" y="2103120"/>
            <a:ext cx="2651760" cy="640080"/>
          </a:xfrm>
          <a:prstGeom prst="roundRect">
            <a:avLst>
              <a:gd fmla="val 17143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0"/>
          <p:cNvSpPr txBox="1"/>
          <p:nvPr/>
        </p:nvSpPr>
        <p:spPr>
          <a:xfrm>
            <a:off x="5440680" y="21031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Riskiest Assumption Test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5943600" y="2880360"/>
            <a:ext cx="1645920" cy="640080"/>
          </a:xfrm>
          <a:prstGeom prst="roundRect">
            <a:avLst>
              <a:gd fmla="val 17143" name="adj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"/>
          <p:cNvSpPr txBox="1"/>
          <p:nvPr/>
        </p:nvSpPr>
        <p:spPr>
          <a:xfrm>
            <a:off x="5943600" y="28803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Одна ставка на завтра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 txBox="1"/>
          <p:nvPr/>
        </p:nvSpPr>
        <p:spPr>
          <a:xfrm>
            <a:off x="4937760" y="370332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Из бэклога берём не самую простую, а ту гипотезу, при провале которой рушится всё остальное. Её проверяем первой — завтра, в день «Make Your Bet».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1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AJTBD за две минуты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Advanced Jobs To Be Done — ядро Next Move Theory Ивана Замесина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566928" y="1481328"/>
            <a:ext cx="694944" cy="694944"/>
          </a:xfrm>
          <a:prstGeom prst="ellipse">
            <a:avLst/>
          </a:prstGeom>
          <a:solidFill>
            <a:srgbClr val="E7E7ED"/>
          </a:solidFill>
          <a:ln cap="flat" cmpd="sng" w="12700">
            <a:solidFill>
              <a:srgbClr val="E7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1"/>
          <p:cNvSpPr txBox="1"/>
          <p:nvPr/>
        </p:nvSpPr>
        <p:spPr>
          <a:xfrm>
            <a:off x="566928" y="1481328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1371600" y="1691640"/>
            <a:ext cx="9144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1"/>
          <p:cNvSpPr/>
          <p:nvPr/>
        </p:nvSpPr>
        <p:spPr>
          <a:xfrm>
            <a:off x="2395728" y="1481328"/>
            <a:ext cx="694944" cy="694944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1"/>
          <p:cNvSpPr txBox="1"/>
          <p:nvPr/>
        </p:nvSpPr>
        <p:spPr>
          <a:xfrm>
            <a:off x="2395728" y="1481328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1"/>
          <p:cNvSpPr txBox="1"/>
          <p:nvPr/>
        </p:nvSpPr>
        <p:spPr>
          <a:xfrm>
            <a:off x="1325880" y="13716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ситуация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365760" y="228600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Работа (job) — не задача, а переход из состояния A в состояние B в конкретной ситуации. Продукт нанимают на работу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4023360" y="1325880"/>
            <a:ext cx="1645920" cy="365760"/>
          </a:xfrm>
          <a:prstGeom prst="roundRect">
            <a:avLst>
              <a:gd fmla="val 25000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1"/>
          <p:cNvSpPr txBox="1"/>
          <p:nvPr/>
        </p:nvSpPr>
        <p:spPr>
          <a:xfrm>
            <a:off x="4023360" y="13258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Большая работа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21"/>
          <p:cNvCxnSpPr/>
          <p:nvPr/>
        </p:nvCxnSpPr>
        <p:spPr>
          <a:xfrm flipH="1" rot="10800000">
            <a:off x="3840480" y="1691640"/>
            <a:ext cx="1005840" cy="41148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21"/>
          <p:cNvSpPr/>
          <p:nvPr/>
        </p:nvSpPr>
        <p:spPr>
          <a:xfrm>
            <a:off x="3383280" y="2103120"/>
            <a:ext cx="914400" cy="320040"/>
          </a:xfrm>
          <a:prstGeom prst="roundRect">
            <a:avLst>
              <a:gd fmla="val 22857" name="adj"/>
            </a:avLst>
          </a:prstGeom>
          <a:solidFill>
            <a:srgbClr val="E7E7ED"/>
          </a:solidFill>
          <a:ln cap="flat" cmpd="sng" w="12700">
            <a:solidFill>
              <a:srgbClr val="E7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1"/>
          <p:cNvSpPr txBox="1"/>
          <p:nvPr/>
        </p:nvSpPr>
        <p:spPr>
          <a:xfrm>
            <a:off x="3383280" y="21031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подработа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21"/>
          <p:cNvCxnSpPr/>
          <p:nvPr/>
        </p:nvCxnSpPr>
        <p:spPr>
          <a:xfrm>
            <a:off x="4846320" y="1691640"/>
            <a:ext cx="914" cy="41148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21"/>
          <p:cNvSpPr/>
          <p:nvPr/>
        </p:nvSpPr>
        <p:spPr>
          <a:xfrm>
            <a:off x="4389120" y="2103120"/>
            <a:ext cx="914400" cy="320040"/>
          </a:xfrm>
          <a:prstGeom prst="roundRect">
            <a:avLst>
              <a:gd fmla="val 22857" name="adj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1"/>
          <p:cNvSpPr txBox="1"/>
          <p:nvPr/>
        </p:nvSpPr>
        <p:spPr>
          <a:xfrm>
            <a:off x="4389120" y="21031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ваш кейс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21"/>
          <p:cNvCxnSpPr/>
          <p:nvPr/>
        </p:nvCxnSpPr>
        <p:spPr>
          <a:xfrm>
            <a:off x="4846320" y="1691640"/>
            <a:ext cx="1005840" cy="41148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21"/>
          <p:cNvSpPr/>
          <p:nvPr/>
        </p:nvSpPr>
        <p:spPr>
          <a:xfrm>
            <a:off x="5394960" y="2103120"/>
            <a:ext cx="914400" cy="320040"/>
          </a:xfrm>
          <a:prstGeom prst="roundRect">
            <a:avLst>
              <a:gd fmla="val 22857" name="adj"/>
            </a:avLst>
          </a:prstGeom>
          <a:solidFill>
            <a:srgbClr val="E7E7ED"/>
          </a:solidFill>
          <a:ln cap="flat" cmpd="sng" w="12700">
            <a:solidFill>
              <a:srgbClr val="E7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1"/>
          <p:cNvSpPr txBox="1"/>
          <p:nvPr/>
        </p:nvSpPr>
        <p:spPr>
          <a:xfrm>
            <a:off x="5394960" y="21031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подработа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1"/>
          <p:cNvSpPr txBox="1"/>
          <p:nvPr/>
        </p:nvSpPr>
        <p:spPr>
          <a:xfrm>
            <a:off x="3566160" y="251460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Граф работ: большая работа → подработы. Кейс — почти всегда подработа; продукт — когда вы видите большую работу над ней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365760" y="28346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Ценность = выполнить работу клиента более энергоэффективно: меньше времени, денег, усилий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8" name="Google Shape;45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280160"/>
            <a:ext cx="2377440" cy="133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697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1"/>
          <p:cNvSpPr txBox="1"/>
          <p:nvPr/>
        </p:nvSpPr>
        <p:spPr>
          <a:xfrm>
            <a:off x="7132320" y="2697480"/>
            <a:ext cx="1691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nextmovetheory.com — канон и Claude Code-скиллы открыты (CC BY-NC-SA): market-research → value-proposition → PRD / GTM, /ask-nmt. Ограничение: работает там, где люди осознают мотивы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21"/>
          <p:cNvCxnSpPr/>
          <p:nvPr/>
        </p:nvCxnSpPr>
        <p:spPr>
          <a:xfrm>
            <a:off x="365760" y="338328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21"/>
          <p:cNvSpPr txBox="1"/>
          <p:nvPr/>
        </p:nvSpPr>
        <p:spPr>
          <a:xfrm>
            <a:off x="365760" y="34564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Четыре механики создания ценности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365760" y="3767328"/>
            <a:ext cx="292608" cy="292608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1"/>
          <p:cNvSpPr txBox="1"/>
          <p:nvPr/>
        </p:nvSpPr>
        <p:spPr>
          <a:xfrm>
            <a:off x="365760" y="37673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749808" y="374904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Починить проблемы в текущем выполнении работы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2496312" y="3767328"/>
            <a:ext cx="292608" cy="292608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1"/>
          <p:cNvSpPr txBox="1"/>
          <p:nvPr/>
        </p:nvSpPr>
        <p:spPr>
          <a:xfrm>
            <a:off x="2496312" y="37673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 txBox="1"/>
          <p:nvPr/>
        </p:nvSpPr>
        <p:spPr>
          <a:xfrm>
            <a:off x="2880360" y="374904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Убить лишние подработы — главная механика, и здесь ИИ сильнее всего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4626864" y="3767328"/>
            <a:ext cx="292608" cy="292608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1"/>
          <p:cNvSpPr txBox="1"/>
          <p:nvPr/>
        </p:nvSpPr>
        <p:spPr>
          <a:xfrm>
            <a:off x="4626864" y="37673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5010912" y="374904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Делать больше работ одним решением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6757416" y="3767328"/>
            <a:ext cx="292608" cy="292608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1"/>
          <p:cNvSpPr txBox="1"/>
          <p:nvPr/>
        </p:nvSpPr>
        <p:spPr>
          <a:xfrm>
            <a:off x="6757416" y="37673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1"/>
          <p:cNvSpPr txBox="1"/>
          <p:nvPr/>
        </p:nvSpPr>
        <p:spPr>
          <a:xfrm>
            <a:off x="7141464" y="374904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Снизить затраты без изменения работ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2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AI in PDLC: цикл стал непрерывной петлёй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1051560" y="1554480"/>
            <a:ext cx="2468880" cy="2468880"/>
          </a:xfrm>
          <a:prstGeom prst="ellipse">
            <a:avLst/>
          </a:prstGeom>
          <a:noFill/>
          <a:ln cap="flat" cmpd="sng" w="19050">
            <a:solidFill>
              <a:srgbClr val="C9CBD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2"/>
          <p:cNvSpPr/>
          <p:nvPr/>
        </p:nvSpPr>
        <p:spPr>
          <a:xfrm>
            <a:off x="2148840" y="1417320"/>
            <a:ext cx="274320" cy="27432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2"/>
          <p:cNvSpPr txBox="1"/>
          <p:nvPr/>
        </p:nvSpPr>
        <p:spPr>
          <a:xfrm>
            <a:off x="1737360" y="10972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Сигналы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3217896" y="2034540"/>
            <a:ext cx="274320" cy="27432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2"/>
          <p:cNvSpPr txBox="1"/>
          <p:nvPr/>
        </p:nvSpPr>
        <p:spPr>
          <a:xfrm>
            <a:off x="3556224" y="20345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Проблемы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3217896" y="3268980"/>
            <a:ext cx="274320" cy="27432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2"/>
          <p:cNvSpPr txBox="1"/>
          <p:nvPr/>
        </p:nvSpPr>
        <p:spPr>
          <a:xfrm>
            <a:off x="3556224" y="32689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Живая приоритизация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2148840" y="3886200"/>
            <a:ext cx="274320" cy="274320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2"/>
          <p:cNvSpPr txBox="1"/>
          <p:nvPr/>
        </p:nvSpPr>
        <p:spPr>
          <a:xfrm>
            <a:off x="1737360" y="42062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Прототип как инструмент решения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1079784" y="3268980"/>
            <a:ext cx="274320" cy="27432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2"/>
          <p:cNvSpPr txBox="1"/>
          <p:nvPr/>
        </p:nvSpPr>
        <p:spPr>
          <a:xfrm>
            <a:off x="-81504" y="35890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Эксперимент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1079784" y="2034540"/>
            <a:ext cx="274320" cy="27432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2"/>
          <p:cNvSpPr txBox="1"/>
          <p:nvPr/>
        </p:nvSpPr>
        <p:spPr>
          <a:xfrm>
            <a:off x="-81504" y="20345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Снова сигналы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 txBox="1"/>
          <p:nvPr/>
        </p:nvSpPr>
        <p:spPr>
          <a:xfrm>
            <a:off x="1920240" y="23774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↻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 txBox="1"/>
          <p:nvPr/>
        </p:nvSpPr>
        <p:spPr>
          <a:xfrm>
            <a:off x="4297680" y="11430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55%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 txBox="1"/>
          <p:nvPr/>
        </p:nvSpPr>
        <p:spPr>
          <a:xfrm>
            <a:off x="4297680" y="17830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говорят, что ИИ превзошёл ожидания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 txBox="1"/>
          <p:nvPr/>
        </p:nvSpPr>
        <p:spPr>
          <a:xfrm>
            <a:off x="6583680" y="11430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63%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6583680" y="17830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PM экономят 4+ часа в неделю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4297680" y="23774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44%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 txBox="1"/>
          <p:nvPr/>
        </p:nvSpPr>
        <p:spPr>
          <a:xfrm>
            <a:off x="4297680" y="30175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хотят прототипировать с ИИ — делают пока 20%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6583680" y="23774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+27 pp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 txBox="1"/>
          <p:nvPr/>
        </p:nvSpPr>
        <p:spPr>
          <a:xfrm>
            <a:off x="6583680" y="30175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разрыв «хочу / делаю» в исследованиях у PM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 txBox="1"/>
          <p:nvPr/>
        </p:nvSpPr>
        <p:spPr>
          <a:xfrm>
            <a:off x="4297680" y="361188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Опрос Lenny's Newsletter, 1 750 респондентов, 2026. Discovery в 2026 стало еженедельной привычкой, а не фазой до запуска.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 txBox="1"/>
          <p:nvPr/>
        </p:nvSpPr>
        <p:spPr>
          <a:xfrm>
            <a:off x="4297680" y="397764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Обратная сторона: по данным MIT, 95% корпоративных ИИ-пилотов не дают измеримого ROI — как правило, потому что решают не ту проблему и не встроены в процесс. Это ровно то, что мы обходим на этой неделе.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3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Тот же сдвиг глазами McKinsey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3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How an AI-enabled software product development life cycle will fuel innovation — McKinsey &amp; Company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365760" y="1280160"/>
            <a:ext cx="3566160" cy="324612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3"/>
          <p:cNvSpPr txBox="1"/>
          <p:nvPr/>
        </p:nvSpPr>
        <p:spPr>
          <a:xfrm>
            <a:off x="502920" y="1371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Было: фрагментированный PDLC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1691640"/>
            <a:ext cx="3291840" cy="2746996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3"/>
          <p:cNvSpPr/>
          <p:nvPr/>
        </p:nvSpPr>
        <p:spPr>
          <a:xfrm>
            <a:off x="4023360" y="2606040"/>
            <a:ext cx="457200" cy="4114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3"/>
          <p:cNvSpPr/>
          <p:nvPr/>
        </p:nvSpPr>
        <p:spPr>
          <a:xfrm>
            <a:off x="4572000" y="1280160"/>
            <a:ext cx="4206240" cy="324612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905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3"/>
          <p:cNvSpPr txBox="1"/>
          <p:nvPr/>
        </p:nvSpPr>
        <p:spPr>
          <a:xfrm>
            <a:off x="4709160" y="13716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Стало: AI-native PDLC — две петли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1691640"/>
            <a:ext cx="3931920" cy="2009327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3"/>
          <p:cNvSpPr txBox="1"/>
          <p:nvPr/>
        </p:nvSpPr>
        <p:spPr>
          <a:xfrm>
            <a:off x="4709160" y="374904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Discover, validate, experiment — одна петля, а не фазы с передачей ответственности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200"/>
              </a:spcBef>
              <a:spcAft>
                <a:spcPts val="0"/>
              </a:spcAft>
              <a:buClr>
                <a:srgbClr val="5A6470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Данные о клиенте интегрированы во все горизонты; time-to-market радикально сжимается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8120" y="36576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3"/>
          <p:cNvSpPr txBox="1"/>
          <p:nvPr/>
        </p:nvSpPr>
        <p:spPr>
          <a:xfrm>
            <a:off x="7818120" y="4462272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статья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4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4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Где ИИ помогает на discovery — и что не делегируем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365760" y="1097280"/>
            <a:ext cx="2697480" cy="1481328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502920" y="1234440"/>
            <a:ext cx="310896" cy="31089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4"/>
          <p:cNvSpPr txBox="1"/>
          <p:nvPr/>
        </p:nvSpPr>
        <p:spPr>
          <a:xfrm>
            <a:off x="502920" y="12344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4"/>
          <p:cNvSpPr txBox="1"/>
          <p:nvPr/>
        </p:nvSpPr>
        <p:spPr>
          <a:xfrm>
            <a:off x="914400" y="1234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Сбор контекста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4"/>
          <p:cNvSpPr txBox="1"/>
          <p:nvPr/>
        </p:nvSpPr>
        <p:spPr>
          <a:xfrm>
            <a:off x="502920" y="16276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 ИИ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4"/>
          <p:cNvSpPr txBox="1"/>
          <p:nvPr/>
        </p:nvSpPr>
        <p:spPr>
          <a:xfrm>
            <a:off x="502920" y="1792224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Deep research по аналогам, разбор документов кейса, суммаризация транскриптов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4"/>
          <p:cNvSpPr/>
          <p:nvPr/>
        </p:nvSpPr>
        <p:spPr>
          <a:xfrm>
            <a:off x="502920" y="2231136"/>
            <a:ext cx="2423160" cy="274320"/>
          </a:xfrm>
          <a:prstGeom prst="roundRect">
            <a:avLst>
              <a:gd fmla="val 26667" name="adj"/>
            </a:avLst>
          </a:prstGeom>
          <a:solidFill>
            <a:srgbClr val="FFE9DF"/>
          </a:solidFill>
          <a:ln cap="flat" cmpd="sng" w="12700">
            <a:solidFill>
              <a:srgbClr val="FF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4"/>
          <p:cNvSpPr txBox="1"/>
          <p:nvPr/>
        </p:nvSpPr>
        <p:spPr>
          <a:xfrm>
            <a:off x="594360" y="223113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Не делегируем: Разговор с носителем проблемы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3218688" y="1097280"/>
            <a:ext cx="2697480" cy="1481328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3355848" y="1234440"/>
            <a:ext cx="310896" cy="31089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4"/>
          <p:cNvSpPr txBox="1"/>
          <p:nvPr/>
        </p:nvSpPr>
        <p:spPr>
          <a:xfrm>
            <a:off x="3355848" y="12344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4"/>
          <p:cNvSpPr txBox="1"/>
          <p:nvPr/>
        </p:nvSpPr>
        <p:spPr>
          <a:xfrm>
            <a:off x="3767328" y="1234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Сегменты, ICP, боли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4"/>
          <p:cNvSpPr txBox="1"/>
          <p:nvPr/>
        </p:nvSpPr>
        <p:spPr>
          <a:xfrm>
            <a:off x="3355848" y="16276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 ИИ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4"/>
          <p:cNvSpPr txBox="1"/>
          <p:nvPr/>
        </p:nvSpPr>
        <p:spPr>
          <a:xfrm>
            <a:off x="3355848" y="1792224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Черновики за минуты, симулированные интервью как генератор вопросов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3355848" y="2231136"/>
            <a:ext cx="2423160" cy="274320"/>
          </a:xfrm>
          <a:prstGeom prst="roundRect">
            <a:avLst>
              <a:gd fmla="val 26667" name="adj"/>
            </a:avLst>
          </a:prstGeom>
          <a:solidFill>
            <a:srgbClr val="FFE9DF"/>
          </a:solidFill>
          <a:ln cap="flat" cmpd="sng" w="12700">
            <a:solidFill>
              <a:srgbClr val="FF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4"/>
          <p:cNvSpPr txBox="1"/>
          <p:nvPr/>
        </p:nvSpPr>
        <p:spPr>
          <a:xfrm>
            <a:off x="3447288" y="223113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Не делегируем: Подтверждение болей живыми цитатами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4"/>
          <p:cNvSpPr/>
          <p:nvPr/>
        </p:nvSpPr>
        <p:spPr>
          <a:xfrm>
            <a:off x="6071616" y="1097280"/>
            <a:ext cx="2697480" cy="1481328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4"/>
          <p:cNvSpPr/>
          <p:nvPr/>
        </p:nvSpPr>
        <p:spPr>
          <a:xfrm>
            <a:off x="6208776" y="1234440"/>
            <a:ext cx="310896" cy="31089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4"/>
          <p:cNvSpPr txBox="1"/>
          <p:nvPr/>
        </p:nvSpPr>
        <p:spPr>
          <a:xfrm>
            <a:off x="6208776" y="12344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4"/>
          <p:cNvSpPr txBox="1"/>
          <p:nvPr/>
        </p:nvSpPr>
        <p:spPr>
          <a:xfrm>
            <a:off x="6620256" y="1234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Гипотезы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4"/>
          <p:cNvSpPr txBox="1"/>
          <p:nvPr/>
        </p:nvSpPr>
        <p:spPr>
          <a:xfrm>
            <a:off x="6208776" y="16276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 ИИ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4"/>
          <p:cNvSpPr txBox="1"/>
          <p:nvPr/>
        </p:nvSpPr>
        <p:spPr>
          <a:xfrm>
            <a:off x="6208776" y="1792224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Генерация бэклога, RICE-оценки, «challenge the build»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6208776" y="2231136"/>
            <a:ext cx="2423160" cy="274320"/>
          </a:xfrm>
          <a:prstGeom prst="roundRect">
            <a:avLst>
              <a:gd fmla="val 26667" name="adj"/>
            </a:avLst>
          </a:prstGeom>
          <a:solidFill>
            <a:srgbClr val="FFE9DF"/>
          </a:solidFill>
          <a:ln cap="flat" cmpd="sng" w="12700">
            <a:solidFill>
              <a:srgbClr val="FF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4"/>
          <p:cNvSpPr txBox="1"/>
          <p:nvPr/>
        </p:nvSpPr>
        <p:spPr>
          <a:xfrm>
            <a:off x="6300216" y="223113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Не делегируем: Выбор самого рискованного предположения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4"/>
          <p:cNvSpPr/>
          <p:nvPr/>
        </p:nvSpPr>
        <p:spPr>
          <a:xfrm>
            <a:off x="365760" y="2697480"/>
            <a:ext cx="2697480" cy="1481328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4"/>
          <p:cNvSpPr/>
          <p:nvPr/>
        </p:nvSpPr>
        <p:spPr>
          <a:xfrm>
            <a:off x="502920" y="2834640"/>
            <a:ext cx="310896" cy="31089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4"/>
          <p:cNvSpPr txBox="1"/>
          <p:nvPr/>
        </p:nvSpPr>
        <p:spPr>
          <a:xfrm>
            <a:off x="502920" y="2834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4"/>
          <p:cNvSpPr txBox="1"/>
          <p:nvPr/>
        </p:nvSpPr>
        <p:spPr>
          <a:xfrm>
            <a:off x="914400" y="28346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Прототип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4"/>
          <p:cNvSpPr txBox="1"/>
          <p:nvPr/>
        </p:nvSpPr>
        <p:spPr>
          <a:xfrm>
            <a:off x="502920" y="32278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 ИИ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4"/>
          <p:cNvSpPr txBox="1"/>
          <p:nvPr/>
        </p:nvSpPr>
        <p:spPr>
          <a:xfrm>
            <a:off x="502920" y="3392424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v0 / Lovable / Claude Code: кликабельная версия за часы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4"/>
          <p:cNvSpPr/>
          <p:nvPr/>
        </p:nvSpPr>
        <p:spPr>
          <a:xfrm>
            <a:off x="502920" y="3831336"/>
            <a:ext cx="2423160" cy="274320"/>
          </a:xfrm>
          <a:prstGeom prst="roundRect">
            <a:avLst>
              <a:gd fmla="val 26667" name="adj"/>
            </a:avLst>
          </a:prstGeom>
          <a:solidFill>
            <a:srgbClr val="FFE9DF"/>
          </a:solidFill>
          <a:ln cap="flat" cmpd="sng" w="12700">
            <a:solidFill>
              <a:srgbClr val="FF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4"/>
          <p:cNvSpPr txBox="1"/>
          <p:nvPr/>
        </p:nvSpPr>
        <p:spPr>
          <a:xfrm>
            <a:off x="594360" y="383133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Не делегируем: Решение, что именно проверяем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4"/>
          <p:cNvSpPr/>
          <p:nvPr/>
        </p:nvSpPr>
        <p:spPr>
          <a:xfrm>
            <a:off x="3218688" y="2697480"/>
            <a:ext cx="2697480" cy="1481328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4"/>
          <p:cNvSpPr/>
          <p:nvPr/>
        </p:nvSpPr>
        <p:spPr>
          <a:xfrm>
            <a:off x="3355848" y="2834640"/>
            <a:ext cx="310896" cy="31089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4"/>
          <p:cNvSpPr txBox="1"/>
          <p:nvPr/>
        </p:nvSpPr>
        <p:spPr>
          <a:xfrm>
            <a:off x="3355848" y="2834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4"/>
          <p:cNvSpPr txBox="1"/>
          <p:nvPr/>
        </p:nvSpPr>
        <p:spPr>
          <a:xfrm>
            <a:off x="3767328" y="28346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Проверка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4"/>
          <p:cNvSpPr txBox="1"/>
          <p:nvPr/>
        </p:nvSpPr>
        <p:spPr>
          <a:xfrm>
            <a:off x="3355848" y="32278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 ИИ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 txBox="1"/>
          <p:nvPr/>
        </p:nvSpPr>
        <p:spPr>
          <a:xfrm>
            <a:off x="3355848" y="3392424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Evaluation dataset, LLM-as-judge, автотесты сценариев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3355848" y="3831336"/>
            <a:ext cx="2423160" cy="274320"/>
          </a:xfrm>
          <a:prstGeom prst="roundRect">
            <a:avLst>
              <a:gd fmla="val 26667" name="adj"/>
            </a:avLst>
          </a:prstGeom>
          <a:solidFill>
            <a:srgbClr val="FFE9DF"/>
          </a:solidFill>
          <a:ln cap="flat" cmpd="sng" w="12700">
            <a:solidFill>
              <a:srgbClr val="FF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4"/>
          <p:cNvSpPr txBox="1"/>
          <p:nvPr/>
        </p:nvSpPr>
        <p:spPr>
          <a:xfrm>
            <a:off x="3447288" y="383133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Не делегируем: Продуктовая метрика: помогло ли человеку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4"/>
          <p:cNvSpPr/>
          <p:nvPr/>
        </p:nvSpPr>
        <p:spPr>
          <a:xfrm>
            <a:off x="6071616" y="2697480"/>
            <a:ext cx="2697480" cy="1481328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4"/>
          <p:cNvSpPr/>
          <p:nvPr/>
        </p:nvSpPr>
        <p:spPr>
          <a:xfrm>
            <a:off x="6208776" y="2834640"/>
            <a:ext cx="310896" cy="31089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"/>
          <p:cNvSpPr txBox="1"/>
          <p:nvPr/>
        </p:nvSpPr>
        <p:spPr>
          <a:xfrm>
            <a:off x="6208776" y="2834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 txBox="1"/>
          <p:nvPr/>
        </p:nvSpPr>
        <p:spPr>
          <a:xfrm>
            <a:off x="6620256" y="28346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Демо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4"/>
          <p:cNvSpPr txBox="1"/>
          <p:nvPr/>
        </p:nvSpPr>
        <p:spPr>
          <a:xfrm>
            <a:off x="6208776" y="32278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 ИИ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 txBox="1"/>
          <p:nvPr/>
        </p:nvSpPr>
        <p:spPr>
          <a:xfrm>
            <a:off x="6208776" y="3392424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Черновик питча, скринкаст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6208776" y="3831336"/>
            <a:ext cx="2423160" cy="274320"/>
          </a:xfrm>
          <a:prstGeom prst="roundRect">
            <a:avLst>
              <a:gd fmla="val 26667" name="adj"/>
            </a:avLst>
          </a:prstGeom>
          <a:solidFill>
            <a:srgbClr val="FFE9DF"/>
          </a:solidFill>
          <a:ln cap="flat" cmpd="sng" w="12700">
            <a:solidFill>
              <a:srgbClr val="FFE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"/>
          <p:cNvSpPr txBox="1"/>
          <p:nvPr/>
        </p:nvSpPr>
        <p:spPr>
          <a:xfrm>
            <a:off x="6300216" y="383133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Не делегируем: Честность про то, что не подтвердилось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4"/>
          <p:cNvSpPr txBox="1"/>
          <p:nvPr/>
        </p:nvSpPr>
        <p:spPr>
          <a:xfrm>
            <a:off x="365760" y="43159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ИИ ускоряет петлю, но не отменяет ни одного её шага. Пропускаете шаг — получаете быстро сделанный не тот продукт.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5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Анти-паттерны первого дня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5"/>
          <p:cNvSpPr txBox="1"/>
          <p:nvPr/>
        </p:nvSpPr>
        <p:spPr>
          <a:xfrm>
            <a:off x="365760" y="12801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5"/>
          <p:cNvSpPr txBox="1"/>
          <p:nvPr/>
        </p:nvSpPr>
        <p:spPr>
          <a:xfrm>
            <a:off x="822960" y="132588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Начать с архитектуры и стека до того, как понятна работа пользователя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5"/>
          <p:cNvSpPr txBox="1"/>
          <p:nvPr/>
        </p:nvSpPr>
        <p:spPr>
          <a:xfrm>
            <a:off x="4663440" y="12801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5"/>
          <p:cNvSpPr txBox="1"/>
          <p:nvPr/>
        </p:nvSpPr>
        <p:spPr>
          <a:xfrm>
            <a:off x="5120640" y="132588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Считать кейсодателя единственным пользователем и единственным источником правды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5"/>
          <p:cNvSpPr txBox="1"/>
          <p:nvPr/>
        </p:nvSpPr>
        <p:spPr>
          <a:xfrm>
            <a:off x="365760" y="21488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5"/>
          <p:cNvSpPr txBox="1"/>
          <p:nvPr/>
        </p:nvSpPr>
        <p:spPr>
          <a:xfrm>
            <a:off x="822960" y="219456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Обсуждать «фичи» вместо «работ» и «результатов»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5"/>
          <p:cNvSpPr txBox="1"/>
          <p:nvPr/>
        </p:nvSpPr>
        <p:spPr>
          <a:xfrm>
            <a:off x="4663440" y="21488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5"/>
          <p:cNvSpPr txBox="1"/>
          <p:nvPr/>
        </p:nvSpPr>
        <p:spPr>
          <a:xfrm>
            <a:off x="5120640" y="219456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Верить синтетическим пользователям и deep research без проверки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5"/>
          <p:cNvSpPr txBox="1"/>
          <p:nvPr/>
        </p:nvSpPr>
        <p:spPr>
          <a:xfrm>
            <a:off x="365760" y="30175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5"/>
          <p:cNvSpPr txBox="1"/>
          <p:nvPr/>
        </p:nvSpPr>
        <p:spPr>
          <a:xfrm>
            <a:off x="822960" y="306324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Делать чат-бота по умолчанию: интерфейс — следствие работы, а не наоборот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5"/>
          <p:cNvSpPr txBox="1"/>
          <p:nvPr/>
        </p:nvSpPr>
        <p:spPr>
          <a:xfrm>
            <a:off x="4663440" y="30175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5"/>
          <p:cNvSpPr txBox="1"/>
          <p:nvPr/>
        </p:nvSpPr>
        <p:spPr>
          <a:xfrm>
            <a:off x="5120640" y="306324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Собирать «всё, что просили» вместо одного сквозного сценария, который можно проверить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365760" y="3886200"/>
            <a:ext cx="8412480" cy="594360"/>
          </a:xfrm>
          <a:prstGeom prst="roundRect">
            <a:avLst>
              <a:gd fmla="val 18462" name="adj"/>
            </a:avLst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5"/>
          <p:cNvSpPr txBox="1"/>
          <p:nvPr/>
        </p:nvSpPr>
        <p:spPr>
          <a:xfrm>
            <a:off x="548640" y="3886200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✕  Прятать то, что не получилось: за честный список ограничений дают баллы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6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6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Что оценивают — и почему это про продукт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6"/>
          <p:cNvSpPr txBox="1"/>
          <p:nvPr/>
        </p:nvSpPr>
        <p:spPr>
          <a:xfrm>
            <a:off x="365760" y="89611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Почти половина баллов — за понимание проблемы, доказательства и честность, а не за код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6"/>
          <p:cNvSpPr txBox="1"/>
          <p:nvPr/>
        </p:nvSpPr>
        <p:spPr>
          <a:xfrm>
            <a:off x="365760" y="1325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Критерии Demo Day · шкала 0–3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365760" y="1691640"/>
            <a:ext cx="1627632" cy="320040"/>
          </a:xfrm>
          <a:prstGeom prst="rect">
            <a:avLst/>
          </a:prstGeom>
          <a:solidFill>
            <a:srgbClr val="FA5416"/>
          </a:solidFill>
          <a:ln cap="flat" cmpd="sng" w="12700">
            <a:solidFill>
              <a:srgbClr val="F5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6"/>
          <p:cNvSpPr txBox="1"/>
          <p:nvPr/>
        </p:nvSpPr>
        <p:spPr>
          <a:xfrm>
            <a:off x="365760" y="169164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 txBox="1"/>
          <p:nvPr/>
        </p:nvSpPr>
        <p:spPr>
          <a:xfrm>
            <a:off x="365760" y="2084832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Соответствие решения задаче кейса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6"/>
          <p:cNvSpPr/>
          <p:nvPr/>
        </p:nvSpPr>
        <p:spPr>
          <a:xfrm>
            <a:off x="2048256" y="1691640"/>
            <a:ext cx="1627632" cy="320040"/>
          </a:xfrm>
          <a:prstGeom prst="rect">
            <a:avLst/>
          </a:prstGeom>
          <a:solidFill>
            <a:srgbClr val="FA5416"/>
          </a:solidFill>
          <a:ln cap="flat" cmpd="sng" w="12700">
            <a:solidFill>
              <a:srgbClr val="F5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6"/>
          <p:cNvSpPr txBox="1"/>
          <p:nvPr/>
        </p:nvSpPr>
        <p:spPr>
          <a:xfrm>
            <a:off x="2048256" y="169164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6"/>
          <p:cNvSpPr txBox="1"/>
          <p:nvPr/>
        </p:nvSpPr>
        <p:spPr>
          <a:xfrm>
            <a:off x="2048256" y="2084832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Практическая ценность и ожидаемый эффект — с baseline и способом измерения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3730752" y="1691640"/>
            <a:ext cx="1627632" cy="32004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F5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6"/>
          <p:cNvSpPr txBox="1"/>
          <p:nvPr/>
        </p:nvSpPr>
        <p:spPr>
          <a:xfrm>
            <a:off x="3730752" y="169164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6"/>
          <p:cNvSpPr txBox="1"/>
          <p:nvPr/>
        </p:nvSpPr>
        <p:spPr>
          <a:xfrm>
            <a:off x="3730752" y="2084832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Техническая и аналитическая обоснованность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5413248" y="1691640"/>
            <a:ext cx="1627632" cy="32004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F5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6"/>
          <p:cNvSpPr txBox="1"/>
          <p:nvPr/>
        </p:nvSpPr>
        <p:spPr>
          <a:xfrm>
            <a:off x="5413248" y="169164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6"/>
          <p:cNvSpPr txBox="1"/>
          <p:nvPr/>
        </p:nvSpPr>
        <p:spPr>
          <a:xfrm>
            <a:off x="5413248" y="2084832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Качество прототипа и готовность к следующему шагу — план пилота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7095744" y="1691640"/>
            <a:ext cx="1627632" cy="320040"/>
          </a:xfrm>
          <a:prstGeom prst="rect">
            <a:avLst/>
          </a:prstGeom>
          <a:solidFill>
            <a:srgbClr val="9FA9B1"/>
          </a:solidFill>
          <a:ln cap="flat" cmpd="sng" w="12700">
            <a:solidFill>
              <a:srgbClr val="F5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6"/>
          <p:cNvSpPr txBox="1"/>
          <p:nvPr/>
        </p:nvSpPr>
        <p:spPr>
          <a:xfrm>
            <a:off x="7095744" y="169164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 txBox="1"/>
          <p:nvPr/>
        </p:nvSpPr>
        <p:spPr>
          <a:xfrm>
            <a:off x="7095744" y="2084832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Демонстрация и защита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0" name="Google Shape;630;p26"/>
          <p:cNvCxnSpPr/>
          <p:nvPr/>
        </p:nvCxnSpPr>
        <p:spPr>
          <a:xfrm>
            <a:off x="365760" y="292608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26"/>
          <p:cNvSpPr txBox="1"/>
          <p:nvPr/>
        </p:nvSpPr>
        <p:spPr>
          <a:xfrm>
            <a:off x="365760" y="3017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Продуктовая рамка с Camp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 txBox="1"/>
          <p:nvPr/>
        </p:nvSpPr>
        <p:spPr>
          <a:xfrm>
            <a:off x="365760" y="33375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Сила проблемы и коммерческий потенциал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 txBox="1"/>
          <p:nvPr/>
        </p:nvSpPr>
        <p:spPr>
          <a:xfrm>
            <a:off x="365760" y="37947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боль конкретная и «дорогая», понятно, кто платит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 txBox="1"/>
          <p:nvPr/>
        </p:nvSpPr>
        <p:spPr>
          <a:xfrm>
            <a:off x="2496312" y="33375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Готовность MVP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6"/>
          <p:cNvSpPr txBox="1"/>
          <p:nvPr/>
        </p:nvSpPr>
        <p:spPr>
          <a:xfrm>
            <a:off x="2496312" y="37947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сквозной сценарий работает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 txBox="1"/>
          <p:nvPr/>
        </p:nvSpPr>
        <p:spPr>
          <a:xfrm>
            <a:off x="4626864" y="33375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Стыковка с реальностью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6"/>
          <p:cNvSpPr txBox="1"/>
          <p:nvPr/>
        </p:nvSpPr>
        <p:spPr>
          <a:xfrm>
            <a:off x="4626864" y="37947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интервью, факты, что подтвердилось и нет, пивоты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6"/>
          <p:cNvSpPr txBox="1"/>
          <p:nvPr/>
        </p:nvSpPr>
        <p:spPr>
          <a:xfrm>
            <a:off x="6757416" y="33375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Команда «люди + ИИ»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 txBox="1"/>
          <p:nvPr/>
        </p:nvSpPr>
        <p:spPr>
          <a:xfrm>
            <a:off x="6757416" y="37947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роли, процесс, измеримое ускорение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82880"/>
            <a:ext cx="8778240" cy="4764024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7"/>
          <p:cNvSpPr txBox="1"/>
          <p:nvPr/>
        </p:nvSpPr>
        <p:spPr>
          <a:xfrm>
            <a:off x="548640" y="457200"/>
            <a:ext cx="7315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Inter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Что делаем сегодня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7"/>
          <p:cNvSpPr/>
          <p:nvPr/>
        </p:nvSpPr>
        <p:spPr>
          <a:xfrm>
            <a:off x="5943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7"/>
          <p:cNvSpPr txBox="1"/>
          <p:nvPr/>
        </p:nvSpPr>
        <p:spPr>
          <a:xfrm>
            <a:off x="5943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7"/>
          <p:cNvSpPr/>
          <p:nvPr/>
        </p:nvSpPr>
        <p:spPr>
          <a:xfrm>
            <a:off x="10515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7"/>
          <p:cNvSpPr txBox="1"/>
          <p:nvPr/>
        </p:nvSpPr>
        <p:spPr>
          <a:xfrm>
            <a:off x="10515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7"/>
          <p:cNvSpPr/>
          <p:nvPr/>
        </p:nvSpPr>
        <p:spPr>
          <a:xfrm>
            <a:off x="15087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7"/>
          <p:cNvSpPr txBox="1"/>
          <p:nvPr/>
        </p:nvSpPr>
        <p:spPr>
          <a:xfrm>
            <a:off x="15087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7"/>
          <p:cNvSpPr/>
          <p:nvPr/>
        </p:nvSpPr>
        <p:spPr>
          <a:xfrm>
            <a:off x="19659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7"/>
          <p:cNvSpPr txBox="1"/>
          <p:nvPr/>
        </p:nvSpPr>
        <p:spPr>
          <a:xfrm>
            <a:off x="19659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7"/>
          <p:cNvSpPr/>
          <p:nvPr/>
        </p:nvSpPr>
        <p:spPr>
          <a:xfrm>
            <a:off x="24231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FA5416"/>
          </a:solidFill>
          <a:ln cap="flat" cmpd="sng" w="12700">
            <a:solidFill>
              <a:srgbClr val="FF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7"/>
          <p:cNvSpPr txBox="1"/>
          <p:nvPr/>
        </p:nvSpPr>
        <p:spPr>
          <a:xfrm>
            <a:off x="24231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7"/>
          <p:cNvSpPr/>
          <p:nvPr/>
        </p:nvSpPr>
        <p:spPr>
          <a:xfrm>
            <a:off x="2880360" y="4160520"/>
            <a:ext cx="365760" cy="365760"/>
          </a:xfrm>
          <a:prstGeom prst="roundRect">
            <a:avLst>
              <a:gd fmla="val 15000" name="adj"/>
            </a:avLst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7"/>
          <p:cNvSpPr txBox="1"/>
          <p:nvPr/>
        </p:nvSpPr>
        <p:spPr>
          <a:xfrm>
            <a:off x="288036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7"/>
          <p:cNvSpPr txBox="1"/>
          <p:nvPr/>
        </p:nvSpPr>
        <p:spPr>
          <a:xfrm>
            <a:off x="594360" y="3566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Сегодня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663440"/>
            <a:ext cx="10058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8"/>
          <p:cNvSpPr txBox="1"/>
          <p:nvPr/>
        </p:nvSpPr>
        <p:spPr>
          <a:xfrm>
            <a:off x="6949440" y="-3200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EDEE8"/>
              </a:buClr>
              <a:buSzPts val="12000"/>
              <a:buFont typeface="Inter"/>
              <a:buNone/>
            </a:pPr>
            <a:r>
              <a:rPr b="0" i="0" lang="en-US" sz="12000" u="none" cap="none" strike="noStrike">
                <a:solidFill>
                  <a:srgbClr val="DEDEE8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8"/>
          <p:cNvSpPr txBox="1"/>
          <p:nvPr/>
        </p:nvSpPr>
        <p:spPr>
          <a:xfrm>
            <a:off x="365760" y="2743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План на сегодня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8" name="Google Shape;668;p28"/>
          <p:cNvCxnSpPr/>
          <p:nvPr/>
        </p:nvCxnSpPr>
        <p:spPr>
          <a:xfrm>
            <a:off x="548640" y="1737360"/>
            <a:ext cx="8046720" cy="0"/>
          </a:xfrm>
          <a:prstGeom prst="straightConnector1">
            <a:avLst/>
          </a:prstGeom>
          <a:noFill/>
          <a:ln cap="flat" cmpd="sng" w="254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9" name="Google Shape;669;p28"/>
          <p:cNvSpPr/>
          <p:nvPr/>
        </p:nvSpPr>
        <p:spPr>
          <a:xfrm>
            <a:off x="548640" y="1627632"/>
            <a:ext cx="219456" cy="21945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8"/>
          <p:cNvSpPr txBox="1"/>
          <p:nvPr/>
        </p:nvSpPr>
        <p:spPr>
          <a:xfrm>
            <a:off x="457200" y="1280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до 10:00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8"/>
          <p:cNvSpPr txBox="1"/>
          <p:nvPr/>
        </p:nvSpPr>
        <p:spPr>
          <a:xfrm>
            <a:off x="457200" y="196596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Команда и кейс в 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8"/>
          <p:cNvSpPr/>
          <p:nvPr/>
        </p:nvSpPr>
        <p:spPr>
          <a:xfrm>
            <a:off x="1975104" y="1627632"/>
            <a:ext cx="219456" cy="21945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8"/>
          <p:cNvSpPr txBox="1"/>
          <p:nvPr/>
        </p:nvSpPr>
        <p:spPr>
          <a:xfrm>
            <a:off x="1883664" y="1280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11:30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8"/>
          <p:cNvSpPr txBox="1"/>
          <p:nvPr/>
        </p:nvSpPr>
        <p:spPr>
          <a:xfrm>
            <a:off x="1883664" y="196596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Установка + воркшоп «AI Product Discovery», Андрей Кузьминых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8"/>
          <p:cNvSpPr/>
          <p:nvPr/>
        </p:nvSpPr>
        <p:spPr>
          <a:xfrm>
            <a:off x="3401568" y="1627632"/>
            <a:ext cx="219456" cy="219456"/>
          </a:xfrm>
          <a:prstGeom prst="ellipse">
            <a:avLst/>
          </a:prstGeom>
          <a:solidFill>
            <a:srgbClr val="FA5416"/>
          </a:solidFill>
          <a:ln cap="flat" cmpd="sng" w="12700">
            <a:solidFill>
              <a:srgbClr val="FA54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8"/>
          <p:cNvSpPr txBox="1"/>
          <p:nvPr/>
        </p:nvSpPr>
        <p:spPr>
          <a:xfrm>
            <a:off x="3310128" y="1280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13:00–16:30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8"/>
          <p:cNvSpPr txBox="1"/>
          <p:nvPr/>
        </p:nvSpPr>
        <p:spPr>
          <a:xfrm>
            <a:off x="3310128" y="196596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Работа: Context Pack, первое интервью, первый пробный шаг — данные / spike / черновой сценарий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8"/>
          <p:cNvSpPr/>
          <p:nvPr/>
        </p:nvSpPr>
        <p:spPr>
          <a:xfrm>
            <a:off x="4828032" y="1627632"/>
            <a:ext cx="219456" cy="21945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8"/>
          <p:cNvSpPr txBox="1"/>
          <p:nvPr/>
        </p:nvSpPr>
        <p:spPr>
          <a:xfrm>
            <a:off x="4736592" y="1280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16:30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8"/>
          <p:cNvSpPr txBox="1"/>
          <p:nvPr/>
        </p:nvSpPr>
        <p:spPr>
          <a:xfrm>
            <a:off x="4736592" y="196596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Q&amp;A с кейсодателями — приходите с вопросами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8"/>
          <p:cNvSpPr/>
          <p:nvPr/>
        </p:nvSpPr>
        <p:spPr>
          <a:xfrm>
            <a:off x="6254496" y="1627632"/>
            <a:ext cx="219456" cy="21945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8"/>
          <p:cNvSpPr txBox="1"/>
          <p:nvPr/>
        </p:nvSpPr>
        <p:spPr>
          <a:xfrm>
            <a:off x="6163056" y="1280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17:30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8"/>
          <p:cNvSpPr txBox="1"/>
          <p:nvPr/>
        </p:nvSpPr>
        <p:spPr>
          <a:xfrm>
            <a:off x="6163056" y="196596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Воркшоп «Продуктовые исследования», Вадим Чижков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8"/>
          <p:cNvSpPr/>
          <p:nvPr/>
        </p:nvSpPr>
        <p:spPr>
          <a:xfrm>
            <a:off x="7680960" y="1627632"/>
            <a:ext cx="219456" cy="219456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8"/>
          <p:cNvSpPr txBox="1"/>
          <p:nvPr/>
        </p:nvSpPr>
        <p:spPr>
          <a:xfrm>
            <a:off x="7589520" y="1280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18:30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8"/>
          <p:cNvSpPr txBox="1"/>
          <p:nvPr/>
        </p:nvSpPr>
        <p:spPr>
          <a:xfrm>
            <a:off x="7589520" y="196596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Рефлексия; артефакт дня в 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p28"/>
          <p:cNvCxnSpPr/>
          <p:nvPr/>
        </p:nvCxnSpPr>
        <p:spPr>
          <a:xfrm>
            <a:off x="365760" y="324612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C9C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8" name="Google Shape;688;p28"/>
          <p:cNvSpPr txBox="1"/>
          <p:nvPr/>
        </p:nvSpPr>
        <p:spPr>
          <a:xfrm>
            <a:off x="365760" y="3383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Random Coffee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8"/>
          <p:cNvSpPr txBox="1"/>
          <p:nvPr/>
        </p:nvSpPr>
        <p:spPr>
          <a:xfrm>
            <a:off x="365760" y="365760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6470"/>
                </a:solidFill>
                <a:latin typeface="Inter"/>
                <a:ea typeface="Inter"/>
                <a:cs typeface="Inter"/>
                <a:sym typeface="Inter"/>
              </a:rPr>
              <a:t>Спросите у пары одну конкретную вещь про свой кейс и запостите находку в чат потока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8"/>
          <p:cNvSpPr txBox="1"/>
          <p:nvPr/>
        </p:nvSpPr>
        <p:spPr>
          <a:xfrm>
            <a:off x="4754880" y="33832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Завтра · Make Your Bet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8"/>
          <p:cNvSpPr txBox="1"/>
          <p:nvPr/>
        </p:nvSpPr>
        <p:spPr>
          <a:xfrm>
            <a:off x="4754880" y="365760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Выбираем главную гипотезу и собираем первую проверяемую версию. Чем точнее сегодня контекст — тем смелее завтра ставка.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82880"/>
            <a:ext cx="8778240" cy="4764024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29"/>
          <p:cNvSpPr txBox="1"/>
          <p:nvPr/>
        </p:nvSpPr>
        <p:spPr>
          <a:xfrm>
            <a:off x="548640" y="548640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Дальше — Андрей Кузьминых: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Product Discovery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9"/>
          <p:cNvSpPr txBox="1"/>
          <p:nvPr/>
        </p:nvSpPr>
        <p:spPr>
          <a:xfrm>
            <a:off x="548640" y="210312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Мы поговорили о том, зачем собирать контекст и с кем разговаривать. Андрей покажет, как пройти этот путь за часы, а не недели — с ИИ на каждом шаге.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9"/>
          <p:cNvSpPr/>
          <p:nvPr/>
        </p:nvSpPr>
        <p:spPr>
          <a:xfrm>
            <a:off x="548640" y="3200400"/>
            <a:ext cx="9144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9"/>
          <p:cNvSpPr txBox="1"/>
          <p:nvPr/>
        </p:nvSpPr>
        <p:spPr>
          <a:xfrm>
            <a:off x="548640" y="32004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Сегментация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9"/>
          <p:cNvSpPr txBox="1"/>
          <p:nvPr/>
        </p:nvSpPr>
        <p:spPr>
          <a:xfrm>
            <a:off x="1435608" y="3200400"/>
            <a:ext cx="146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9"/>
          <p:cNvSpPr/>
          <p:nvPr/>
        </p:nvSpPr>
        <p:spPr>
          <a:xfrm>
            <a:off x="1554480" y="3200400"/>
            <a:ext cx="9144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9"/>
          <p:cNvSpPr txBox="1"/>
          <p:nvPr/>
        </p:nvSpPr>
        <p:spPr>
          <a:xfrm>
            <a:off x="1554480" y="32004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ICP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9"/>
          <p:cNvSpPr txBox="1"/>
          <p:nvPr/>
        </p:nvSpPr>
        <p:spPr>
          <a:xfrm>
            <a:off x="2441448" y="3200400"/>
            <a:ext cx="146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9"/>
          <p:cNvSpPr/>
          <p:nvPr/>
        </p:nvSpPr>
        <p:spPr>
          <a:xfrm>
            <a:off x="2560320" y="3200400"/>
            <a:ext cx="9144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9"/>
          <p:cNvSpPr txBox="1"/>
          <p:nvPr/>
        </p:nvSpPr>
        <p:spPr>
          <a:xfrm>
            <a:off x="2560320" y="32004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Симулированные интервью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9"/>
          <p:cNvSpPr txBox="1"/>
          <p:nvPr/>
        </p:nvSpPr>
        <p:spPr>
          <a:xfrm>
            <a:off x="3447288" y="3200400"/>
            <a:ext cx="146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9"/>
          <p:cNvSpPr/>
          <p:nvPr/>
        </p:nvSpPr>
        <p:spPr>
          <a:xfrm>
            <a:off x="3566160" y="3200400"/>
            <a:ext cx="9144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9"/>
          <p:cNvSpPr txBox="1"/>
          <p:nvPr/>
        </p:nvSpPr>
        <p:spPr>
          <a:xfrm>
            <a:off x="3566160" y="32004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Карта болей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9"/>
          <p:cNvSpPr txBox="1"/>
          <p:nvPr/>
        </p:nvSpPr>
        <p:spPr>
          <a:xfrm>
            <a:off x="4453128" y="3200400"/>
            <a:ext cx="146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9"/>
          <p:cNvSpPr/>
          <p:nvPr/>
        </p:nvSpPr>
        <p:spPr>
          <a:xfrm>
            <a:off x="4572000" y="3200400"/>
            <a:ext cx="9144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9"/>
          <p:cNvSpPr txBox="1"/>
          <p:nvPr/>
        </p:nvSpPr>
        <p:spPr>
          <a:xfrm>
            <a:off x="4572000" y="32004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JTBD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9"/>
          <p:cNvSpPr txBox="1"/>
          <p:nvPr/>
        </p:nvSpPr>
        <p:spPr>
          <a:xfrm>
            <a:off x="5458968" y="3200400"/>
            <a:ext cx="146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9"/>
          <p:cNvSpPr/>
          <p:nvPr/>
        </p:nvSpPr>
        <p:spPr>
          <a:xfrm>
            <a:off x="5577840" y="3200400"/>
            <a:ext cx="9144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9"/>
          <p:cNvSpPr txBox="1"/>
          <p:nvPr/>
        </p:nvSpPr>
        <p:spPr>
          <a:xfrm>
            <a:off x="5577840" y="32004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Value Proposition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9"/>
          <p:cNvSpPr txBox="1"/>
          <p:nvPr/>
        </p:nvSpPr>
        <p:spPr>
          <a:xfrm>
            <a:off x="6464808" y="3200400"/>
            <a:ext cx="146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9"/>
          <p:cNvSpPr/>
          <p:nvPr/>
        </p:nvSpPr>
        <p:spPr>
          <a:xfrm>
            <a:off x="6583680" y="3200400"/>
            <a:ext cx="9144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9"/>
          <p:cNvSpPr txBox="1"/>
          <p:nvPr/>
        </p:nvSpPr>
        <p:spPr>
          <a:xfrm>
            <a:off x="6583680" y="32004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Гипотезы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9"/>
          <p:cNvSpPr txBox="1"/>
          <p:nvPr/>
        </p:nvSpPr>
        <p:spPr>
          <a:xfrm>
            <a:off x="7470648" y="3200400"/>
            <a:ext cx="146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9"/>
          <p:cNvSpPr/>
          <p:nvPr/>
        </p:nvSpPr>
        <p:spPr>
          <a:xfrm>
            <a:off x="7589520" y="3200400"/>
            <a:ext cx="9144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9"/>
          <p:cNvSpPr txBox="1"/>
          <p:nvPr/>
        </p:nvSpPr>
        <p:spPr>
          <a:xfrm>
            <a:off x="7589520" y="32004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RICE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9"/>
          <p:cNvSpPr txBox="1"/>
          <p:nvPr/>
        </p:nvSpPr>
        <p:spPr>
          <a:xfrm>
            <a:off x="548640" y="41148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Всё, что вы сделаете на воркшопе, — прямо в ваш Context Pack.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0"/>
          <p:cNvSpPr/>
          <p:nvPr/>
        </p:nvSpPr>
        <p:spPr>
          <a:xfrm>
            <a:off x="114300" y="1323975"/>
            <a:ext cx="2886000" cy="15621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0"/>
          <p:cNvSpPr/>
          <p:nvPr/>
        </p:nvSpPr>
        <p:spPr>
          <a:xfrm>
            <a:off x="3095625" y="1323975"/>
            <a:ext cx="2895600" cy="1562100"/>
          </a:xfrm>
          <a:prstGeom prst="roundRect">
            <a:avLst>
              <a:gd fmla="val 9756" name="adj"/>
            </a:avLst>
          </a:prstGeom>
          <a:solidFill>
            <a:srgbClr val="E8E7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0"/>
          <p:cNvSpPr/>
          <p:nvPr/>
        </p:nvSpPr>
        <p:spPr>
          <a:xfrm>
            <a:off x="6086475" y="1323975"/>
            <a:ext cx="2943300" cy="15621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0"/>
          <p:cNvSpPr/>
          <p:nvPr/>
        </p:nvSpPr>
        <p:spPr>
          <a:xfrm>
            <a:off x="114300" y="2971800"/>
            <a:ext cx="2886000" cy="1409700"/>
          </a:xfrm>
          <a:prstGeom prst="roundRect">
            <a:avLst>
              <a:gd fmla="val 10811" name="adj"/>
            </a:avLst>
          </a:prstGeom>
          <a:solidFill>
            <a:srgbClr val="E8E7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0"/>
          <p:cNvSpPr/>
          <p:nvPr/>
        </p:nvSpPr>
        <p:spPr>
          <a:xfrm>
            <a:off x="3095625" y="2971800"/>
            <a:ext cx="2895600" cy="1409700"/>
          </a:xfrm>
          <a:prstGeom prst="roundRect">
            <a:avLst>
              <a:gd fmla="val 108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0"/>
          <p:cNvSpPr/>
          <p:nvPr/>
        </p:nvSpPr>
        <p:spPr>
          <a:xfrm>
            <a:off x="6086475" y="2971800"/>
            <a:ext cx="2943300" cy="1409700"/>
          </a:xfrm>
          <a:prstGeom prst="roundRect">
            <a:avLst>
              <a:gd fmla="val 10811" name="adj"/>
            </a:avLst>
          </a:prstGeom>
          <a:solidFill>
            <a:srgbClr val="E8E7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0"/>
          <p:cNvSpPr/>
          <p:nvPr/>
        </p:nvSpPr>
        <p:spPr>
          <a:xfrm>
            <a:off x="114300" y="123825"/>
            <a:ext cx="8915400" cy="11145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0"/>
          <p:cNvSpPr/>
          <p:nvPr/>
        </p:nvSpPr>
        <p:spPr>
          <a:xfrm>
            <a:off x="438150" y="619125"/>
            <a:ext cx="72390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Inter"/>
              <a:buNone/>
            </a:pPr>
            <a:r>
              <a:rPr b="1" lang="en-US" sz="36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До встречи с кейсодателем</a:t>
            </a:r>
            <a:endParaRPr/>
          </a:p>
        </p:txBody>
      </p:sp>
      <p:sp>
        <p:nvSpPr>
          <p:cNvPr id="737" name="Google Shape;737;p30"/>
          <p:cNvSpPr/>
          <p:nvPr/>
        </p:nvSpPr>
        <p:spPr>
          <a:xfrm>
            <a:off x="323850" y="1438275"/>
            <a:ext cx="933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3900"/>
              <a:buFont typeface="Inter"/>
              <a:buNone/>
            </a:pPr>
            <a:r>
              <a:rPr b="0" lang="en-US" sz="3900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738" name="Google Shape;738;p30"/>
          <p:cNvSpPr/>
          <p:nvPr/>
        </p:nvSpPr>
        <p:spPr>
          <a:xfrm>
            <a:off x="323850" y="2057400"/>
            <a:ext cx="25050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Проблема: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что решаем и почему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это важно</a:t>
            </a:r>
            <a:endParaRPr/>
          </a:p>
        </p:txBody>
      </p:sp>
      <p:sp>
        <p:nvSpPr>
          <p:cNvPr id="739" name="Google Shape;739;p30"/>
          <p:cNvSpPr/>
          <p:nvPr/>
        </p:nvSpPr>
        <p:spPr>
          <a:xfrm>
            <a:off x="3305175" y="1438275"/>
            <a:ext cx="933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3900"/>
              <a:buFont typeface="Inter"/>
              <a:buNone/>
            </a:pPr>
            <a:r>
              <a:rPr b="0" lang="en-US" sz="3900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740" name="Google Shape;740;p30"/>
          <p:cNvSpPr/>
          <p:nvPr/>
        </p:nvSpPr>
        <p:spPr>
          <a:xfrm>
            <a:off x="3305175" y="2057400"/>
            <a:ext cx="2514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Пользователь и стейкхолдеры: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кто они и как видят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проблему</a:t>
            </a:r>
            <a:endParaRPr/>
          </a:p>
        </p:txBody>
      </p:sp>
      <p:sp>
        <p:nvSpPr>
          <p:cNvPr id="741" name="Google Shape;741;p30"/>
          <p:cNvSpPr/>
          <p:nvPr/>
        </p:nvSpPr>
        <p:spPr>
          <a:xfrm>
            <a:off x="6296025" y="1438275"/>
            <a:ext cx="933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3900"/>
              <a:buFont typeface="Inter"/>
              <a:buNone/>
            </a:pPr>
            <a:r>
              <a:rPr b="0" lang="en-US" sz="3900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742" name="Google Shape;742;p30"/>
          <p:cNvSpPr/>
          <p:nvPr/>
        </p:nvSpPr>
        <p:spPr>
          <a:xfrm>
            <a:off x="6296025" y="2057400"/>
            <a:ext cx="2562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Текущие решения: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процессы, продукты,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open source и готовые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AI-решения</a:t>
            </a:r>
            <a:endParaRPr/>
          </a:p>
        </p:txBody>
      </p:sp>
      <p:sp>
        <p:nvSpPr>
          <p:cNvPr id="743" name="Google Shape;743;p30"/>
          <p:cNvSpPr/>
          <p:nvPr/>
        </p:nvSpPr>
        <p:spPr>
          <a:xfrm>
            <a:off x="323850" y="3086100"/>
            <a:ext cx="933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3900"/>
              <a:buFont typeface="Inter"/>
              <a:buNone/>
            </a:pPr>
            <a:r>
              <a:rPr b="0" lang="en-US" sz="3900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744" name="Google Shape;744;p30"/>
          <p:cNvSpPr/>
          <p:nvPr/>
        </p:nvSpPr>
        <p:spPr>
          <a:xfrm>
            <a:off x="323850" y="3638550"/>
            <a:ext cx="2505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2–3 гипотезы: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что нужно узнать,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чтобы их проверить</a:t>
            </a:r>
            <a:endParaRPr/>
          </a:p>
        </p:txBody>
      </p:sp>
      <p:sp>
        <p:nvSpPr>
          <p:cNvPr id="745" name="Google Shape;745;p30"/>
          <p:cNvSpPr/>
          <p:nvPr/>
        </p:nvSpPr>
        <p:spPr>
          <a:xfrm>
            <a:off x="3305175" y="3086100"/>
            <a:ext cx="933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3900"/>
              <a:buFont typeface="Inter"/>
              <a:buNone/>
            </a:pPr>
            <a:r>
              <a:rPr b="0" lang="en-US" sz="3900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746" name="Google Shape;746;p30"/>
          <p:cNvSpPr/>
          <p:nvPr/>
        </p:nvSpPr>
        <p:spPr>
          <a:xfrm>
            <a:off x="3305175" y="3638550"/>
            <a:ext cx="2514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AI и агенты с первого часа: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ресёрч, анализ, поиск,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прототипы</a:t>
            </a:r>
            <a:endParaRPr/>
          </a:p>
        </p:txBody>
      </p:sp>
      <p:sp>
        <p:nvSpPr>
          <p:cNvPr id="747" name="Google Shape;747;p30"/>
          <p:cNvSpPr/>
          <p:nvPr/>
        </p:nvSpPr>
        <p:spPr>
          <a:xfrm>
            <a:off x="6296025" y="3086100"/>
            <a:ext cx="933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5416"/>
              </a:buClr>
              <a:buSzPts val="3900"/>
              <a:buFont typeface="Inter"/>
              <a:buNone/>
            </a:pPr>
            <a:r>
              <a:rPr b="0" lang="en-US" sz="3900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/>
          </a:p>
        </p:txBody>
      </p:sp>
      <p:sp>
        <p:nvSpPr>
          <p:cNvPr id="748" name="Google Shape;748;p30"/>
          <p:cNvSpPr/>
          <p:nvPr/>
        </p:nvSpPr>
        <p:spPr>
          <a:xfrm>
            <a:off x="6296025" y="3638550"/>
            <a:ext cx="256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Можно быстро проверить идею —</a:t>
            </a:r>
            <a:r>
              <a:rPr lang="en-US"/>
              <a:t> </a:t>
            </a:r>
            <a:r>
              <a:rPr b="1" lang="en-US" sz="127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собирайте, не ждите до вечера</a:t>
            </a:r>
            <a:endParaRPr/>
          </a:p>
        </p:txBody>
      </p:sp>
      <p:sp>
        <p:nvSpPr>
          <p:cNvPr id="749" name="Google Shape;749;p30"/>
          <p:cNvSpPr/>
          <p:nvPr/>
        </p:nvSpPr>
        <p:spPr>
          <a:xfrm>
            <a:off x="114300" y="4467225"/>
            <a:ext cx="8915400" cy="552600"/>
          </a:xfrm>
          <a:prstGeom prst="roundRect">
            <a:avLst>
              <a:gd fmla="val 27586" name="adj"/>
            </a:avLst>
          </a:prstGeom>
          <a:solidFill>
            <a:srgbClr val="FA5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0"/>
          <p:cNvSpPr/>
          <p:nvPr/>
        </p:nvSpPr>
        <p:spPr>
          <a:xfrm>
            <a:off x="295275" y="4552950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F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0"/>
          <p:cNvSpPr/>
          <p:nvPr/>
        </p:nvSpPr>
        <p:spPr>
          <a:xfrm>
            <a:off x="295275" y="4572000"/>
            <a:ext cx="381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752" name="Google Shape;752;p30"/>
          <p:cNvSpPr/>
          <p:nvPr/>
        </p:nvSpPr>
        <p:spPr>
          <a:xfrm>
            <a:off x="828675" y="4591050"/>
            <a:ext cx="7905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Быстрая проверка идей - проблематика, ресерч, гипотезы</a:t>
            </a:r>
            <a:endParaRPr/>
          </a:p>
        </p:txBody>
      </p:sp>
      <p:sp>
        <p:nvSpPr>
          <p:cNvPr id="753" name="Google Shape;753;p30"/>
          <p:cNvSpPr/>
          <p:nvPr/>
        </p:nvSpPr>
        <p:spPr>
          <a:xfrm>
            <a:off x="495300" y="304900"/>
            <a:ext cx="4095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A5416"/>
                </a:solidFill>
                <a:latin typeface="Inter"/>
                <a:ea typeface="Inter"/>
                <a:cs typeface="Inter"/>
                <a:sym typeface="Inter"/>
              </a:rPr>
              <a:t>Фокус дня — от кейса к рабочей гипотезе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